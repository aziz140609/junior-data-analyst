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65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F4E7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3840480"/>
            <a:ext cx="2926080" cy="2926080"/>
          </a:xfrm>
          <a:prstGeom prst="ellipse">
            <a:avLst/>
          </a:prstGeom>
          <a:solidFill>
            <a:srgbClr val="E8722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 ·  JUNIOR DATA ANALYST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Insights — Mini Project Minggu 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Final_Clean_Dataset.csv  |  19.962 lowongan pekerjaan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4 — Minggu 6, Hari Jumat  |  Durasi Presentasi 7–10 menit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Presentasi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9525">
            <a:solidFill>
              <a:srgbClr val="EAE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data, ukuran, dan struktur kolom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9525">
            <a:solidFill>
              <a:srgbClr val="EAE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17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0" y="1417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Deskriptif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1874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angka kunci (Hari Senin)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9525">
            <a:solidFill>
              <a:srgbClr val="EAE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346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2834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Univariate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291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tiap variabel (Hari Selasa)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697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9525">
            <a:solidFill>
              <a:srgbClr val="EAE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346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0" y="2834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Bivariate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0" y="3291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antar variabel (Hari Rabu)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9525">
            <a:solidFill>
              <a:srgbClr val="EAE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519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55448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Korelasi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709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&amp; heatmap (Hari Kamis)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114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9525">
            <a:solidFill>
              <a:srgbClr val="EAEA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519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31520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Rencana Lanjutan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dan potensi Minggu 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Gambaran Dataset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F4E7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19.962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Baris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F4E78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3441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Kolom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F4E7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3441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 Unik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41080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F4E78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13441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4108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Sektor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Dataset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Job_Description, Job_Title, Organization — informasi utama lowongan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Location_State — lokasi geografis pekerjaan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— data gaji mentah (teks, perlu dibersihkan)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Job_Type — kategori industri dan jenis kontrak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Job_Description_Length — satu-satunya kolom numerik murni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Kualitas Data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310896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DEEE9"/>
          </a:solidFill>
          <a:ln w="9525">
            <a:solidFill>
              <a:srgbClr val="E872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291840"/>
            <a:ext cx="4709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24,25% data Sector bernilai 'Unknown'</a:t>
            </a:r>
            <a:endParaRPr lang="en-US" sz="120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2.120 baris Location_State kosong</a:t>
            </a:r>
            <a:endParaRPr lang="en-US" sz="120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~13% kolom Salary berhasil dikonversi ke angka</a:t>
            </a:r>
            <a:endParaRPr lang="en-US" sz="120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inkonsistensi penulisan Location (mis. duplikasi kota dengan/tanpa kode pos)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 Deskriptif — Hari Senin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Job_Description_Length (karakter)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7335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2.479,76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67335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2.195,50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01568" y="205740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6032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2.490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" y="2944368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487168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256032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1.607,35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01568" y="2944368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74136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47288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" y="3831336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374136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447288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20.189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401568" y="3831336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61104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334256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8368" y="4718304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4261104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4334256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3.259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401568" y="4718304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1143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Kunci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0" y="155448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F4E7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78308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(2.480) &gt; Median (2.196) → distribusi condong ke kanan (right-skewed)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 deskripsi berada di rentang 1.000–3.000 karakter (&gt;54% data)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nilai sangat lebar: 16 hingga 20.189 karakter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~2,9% data teridentifikasi sebagai outlier (metode IQR)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skewed, median lebih representatif dibanding mean sebagai 'nilai tipikal'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Univariate — Hari Selasa (1/2)</a:t>
            </a:r>
            <a:endParaRPr lang="en-US" sz="2200" dirty="0"/>
          </a:p>
        </p:txBody>
      </p:sp>
      <p:pic>
        <p:nvPicPr>
          <p:cNvPr id="5" name="Image 0" descr="nb_images/cell19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3712464"/>
          </a:xfrm>
          <a:prstGeom prst="rect">
            <a:avLst/>
          </a:prstGeom>
        </p:spPr>
      </p:pic>
      <p:pic>
        <p:nvPicPr>
          <p:cNvPr id="6" name="Image 1" descr="nb_images/cell18_out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5943600" cy="3931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5074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 mendominasi 85,99% dari seluruh lowongan.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760720" y="5257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24,25% Sector tidak teridentifikasi ('Unknown') — isu kualitas data.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Univariate — Hari Selasa (2/2)</a:t>
            </a:r>
            <a:endParaRPr lang="en-US" sz="2200" dirty="0"/>
          </a:p>
        </p:txBody>
      </p:sp>
      <p:pic>
        <p:nvPicPr>
          <p:cNvPr id="5" name="Image 0" descr="nb_images/cell4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67512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4406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Job_Description_Length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06640" y="1188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06640" y="160020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right-skewed dengan puncak di 1.500–2.500 karakter</a:t>
            </a:r>
            <a:endParaRPr lang="en-US" sz="120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signifikan hingga ~20.000 karakter</a:t>
            </a:r>
            <a:endParaRPr lang="en-US" sz="120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mengonfirmasi banyak titik di luar whisker atas</a:t>
            </a:r>
            <a:endParaRPr lang="en-US" sz="120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data terkonsentrasi di rentang menengah</a:t>
            </a:r>
            <a:endParaRPr lang="en-US" sz="1200" dirty="0"/>
          </a:p>
        </p:txBody>
      </p:sp>
      <p:pic>
        <p:nvPicPr>
          <p:cNvPr id="9" name="Image 1" descr="nb_images/cell20_out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977640"/>
            <a:ext cx="4480560" cy="1737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Bivariate — Hari Rabu (1/2)</a:t>
            </a:r>
            <a:endParaRPr lang="en-US" sz="2200" dirty="0"/>
          </a:p>
        </p:txBody>
      </p:sp>
      <p:pic>
        <p:nvPicPr>
          <p:cNvPr id="5" name="Image 0" descr="nb_images3/cell8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617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Job_Description_Length vs. Salary</a:t>
            </a:r>
            <a:endParaRPr lang="en-US" sz="1100" dirty="0"/>
          </a:p>
        </p:txBody>
      </p:sp>
      <p:pic>
        <p:nvPicPr>
          <p:cNvPr id="7" name="Image 1" descr="nb_images3/cell11_out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486400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Job_Type di 5 Sektor Teratas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507492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16636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korelasi jelas antara panjang deskripsi dan besaran gaji (titik tersebar acak)</a:t>
            </a:r>
            <a:endParaRPr lang="en-US" sz="120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 konsisten mendominasi di semua sektor teratas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Bivariate — Hari Rabu (2/2)</a:t>
            </a:r>
            <a:endParaRPr lang="en-US" sz="2200" dirty="0"/>
          </a:p>
        </p:txBody>
      </p:sp>
      <p:pic>
        <p:nvPicPr>
          <p:cNvPr id="5" name="Image 0" descr="nb_images3/cell16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DEEE9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7790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sampel gaji valid pada notebook analisis ini terbatas (n=45) — hasil bersifat indikasi awal, bukan kesimpulan final.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Korelasi — Hari Kamis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DEEE9"/>
          </a:solidFill>
          <a:ln w="9525">
            <a:solidFill>
              <a:srgbClr val="E872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Dataset Utama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Final_Clean_Dataset.csv hanya punya 1 kolom numerik murni: Job_Description_Length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Cleaned_Salary hasil ekstraksi teks, hanya valid untuk ~13% data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yang bisa dibuat sangat terbatas (maksimal 2x2)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cukup kaya untuk melatih interpretasi correlation matrix &amp; heatmap secara menyeluruh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F4E78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Dataset Pembanding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dataset tambahan dari Kaggle: 'Salary Prediction for Beginners'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3 kolom numerik: Age, Years of Experience, Salary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 baris data, 373 setelah pembersihan missing values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khusus untuk melatih teknik correlation matrix &amp; heatmap secara lebih menyeluruh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Korelasi — Hari Kamis (2/2)</a:t>
            </a:r>
            <a:endParaRPr lang="en-US" sz="2200" dirty="0"/>
          </a:p>
        </p:txBody>
      </p:sp>
      <p:pic>
        <p:nvPicPr>
          <p:cNvPr id="5" name="Image 0" descr="nb_images4/cell4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029200" cy="4480560"/>
          </a:xfrm>
          <a:prstGeom prst="rect">
            <a:avLst/>
          </a:prstGeom>
        </p:spPr>
      </p:pic>
      <p:pic>
        <p:nvPicPr>
          <p:cNvPr id="6" name="Image 1" descr="nb_images4/cell5_out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5852160" cy="4572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58704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 → korelasi terkuat dengan Salary (r=0,93). Gender hampir tidak berpengaruh (r=0,07).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1F4E7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Insight Utama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22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didominasi lowongan Full Time (85,99%) pada industri Healthcare Services (40,44%)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2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39572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rekrutmen terkonsentrasi di Texas dan Ohio (&gt;24% gabungan)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2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23697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 deskripsi pekerjaan tidak berkorelasi jelas dengan besaran gaji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2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078224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24,25% data Sector tidak teridentifikasi — perlu perbaikan kualitas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65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22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91947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dataset pembanding: pengalaman kerja adalah prediktor gaji terkuat, gender tidak berpengaruh signifikan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 •  Topik 4: Exploratory Data Analysis  •  Minggu 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F4E7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8722C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Tanya Jawab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Edusoft Center Teknologi — Training &amp; Industry Simulation Center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2026-08-07T02:11:28Z</dcterms:created>
  <dcterms:modified xsi:type="dcterms:W3CDTF">2026-08-07T02:11:28Z</dcterms:modified>
</cp:coreProperties>
</file>