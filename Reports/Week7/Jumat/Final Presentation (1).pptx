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4E79"/>
                </a:solidFill>
                <a:latin typeface="Arial"/>
              </a:defRPr>
            </a:pPr>
            <a:r>
              <a:rPr sz="1200" b="0" i="0" u="none" strike="noStrike">
                <a:solidFill>
                  <a:srgbClr val="1F4E79"/>
                </a:solidFill>
                <a:latin typeface="Arial"/>
              </a:rPr>
              <a:t>Sales per Customer Segment</a:t>
            </a:r>
          </a:p>
        </c:rich>
      </c:tx>
      <c:layout/>
      <c:overlay val="0"/>
    </c:title>
    <c:autoTitleDeleted val="0"/>
    <c:plotArea>
      <c:layout/>
      <c:barChart>
        <c:barDir val="col"/>
        <c:grouping val="clustered"/>
        <c:varyColors val="0"/>
        <c:ser>
          <c:idx val="0"/>
          <c:order val="0"/>
          <c:tx>
            <c:strRef>
              <c:f>Sheet1!$B$1</c:f>
              <c:strCache>
                <c:ptCount val="1"/>
                <c:pt idx="0">
                  <c:v>Sales</c:v>
                </c:pt>
              </c:strCache>
            </c:strRef>
          </c:tx>
          <c:spPr>
            <a:solidFill>
              <a:srgbClr val="2E75B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Consumer</c:v>
                  </c:pt>
                  <c:pt idx="1">
                    <c:v>Corporate</c:v>
                  </c:pt>
                  <c:pt idx="2">
                    <c:v>Home Office</c:v>
                  </c:pt>
                </c:lvl>
              </c:multiLvlStrCache>
            </c:multiLvlStrRef>
          </c:cat>
          <c:val>
            <c:numRef>
              <c:f>Sheet1!$B$2:$B$4</c:f>
              <c:numCache>
                <c:formatCode>General</c:formatCode>
                <c:ptCount val="3"/>
                <c:pt idx="0">
                  <c:v>1161401</c:v>
                </c:pt>
                <c:pt idx="1">
                  <c:v>706146</c:v>
                </c:pt>
                <c:pt idx="2">
                  <c:v>429653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4E79"/>
                </a:solidFill>
                <a:latin typeface="Arial"/>
              </a:defRPr>
            </a:pPr>
            <a:r>
              <a:rPr sz="1200" b="0" i="0" u="none" strike="noStrike">
                <a:solidFill>
                  <a:srgbClr val="1F4E79"/>
                </a:solidFill>
                <a:latin typeface="Arial"/>
              </a:rPr>
              <a:t>Sales per Region</a:t>
            </a:r>
          </a:p>
        </c:rich>
      </c:tx>
      <c:layout/>
      <c:overlay val="0"/>
    </c:title>
    <c:autoTitleDeleted val="0"/>
    <c:plotArea>
      <c:layout/>
      <c:barChart>
        <c:barDir val="col"/>
        <c:grouping val="clustered"/>
        <c:varyColors val="0"/>
        <c:ser>
          <c:idx val="0"/>
          <c:order val="0"/>
          <c:tx>
            <c:strRef>
              <c:f>Sheet1!$B$1</c:f>
              <c:strCache>
                <c:ptCount val="1"/>
                <c:pt idx="0">
                  <c:v>Sales</c:v>
                </c:pt>
              </c:strCache>
            </c:strRef>
          </c:tx>
          <c:spPr>
            <a:solidFill>
              <a:srgbClr val="1F4E7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West</c:v>
                  </c:pt>
                  <c:pt idx="1">
                    <c:v>East</c:v>
                  </c:pt>
                  <c:pt idx="2">
                    <c:v>Central</c:v>
                  </c:pt>
                  <c:pt idx="3">
                    <c:v>South</c:v>
                  </c:pt>
                </c:lvl>
              </c:multiLvlStrCache>
            </c:multiLvlStrRef>
          </c:cat>
          <c:val>
            <c:numRef>
              <c:f>Sheet1!$B$2:$B$5</c:f>
              <c:numCache>
                <c:formatCode>General</c:formatCode>
                <c:ptCount val="4"/>
                <c:pt idx="0">
                  <c:v>725458</c:v>
                </c:pt>
                <c:pt idx="1">
                  <c:v>678781</c:v>
                </c:pt>
                <c:pt idx="2">
                  <c:v>501240</c:v>
                </c:pt>
                <c:pt idx="3">
                  <c:v>391722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datang di presentasi Final Project EDA. Presentasi ini merangkum seluruh rangkaian analisis eksploratif data yang dilakukan sepanjang Minggu 6 dan 7 menggunakan dataset Sample - Superstore.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yang digunakan adalah Sample Superstore dari Kaggle, berisi 9.994 transaksi ritel selama 4 tahun (2014-2017), mencakup 793 pelanggan unik dan 1.850 produk unik. Dataset ini dipilih karena kelengkapan kolomnya - ada informasi wilayah, kategori, segmen pelanggan, dan rentang waktu yang panjang - sehingga cocok untuk seluruh rangkaian analisis EDA yang kita lakukan.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Statistik deskriptif menunjukkan pola khas data ritel: mean Sales jauh lebih tinggi dari median, artinya distribusinya menceng ke kanan - ada sejumlah kecil transaksi bernilai sangat besar yang menaikkan rata-rata. Yang paling menarik adalah Profit minimum mencapai -$6.600, menandakan ada transaksi yang sangat merugikan, yang akan kita telusuri lebih lanjut di bagian outlier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tren bulanan menunjukkan pola musiman yang berulang setiap tahun, dengan puncak selalu di kuartal keempat: November, Desember, dan September. Selain pola musiman, ada tren pertumbuhan tahunan yang jelas - setelah sedikit penurunan di 2015, penjualan tumbuh signifikan 29,5% di 2016 dan 20,4% di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Segmentasi dilakukan pada 5 dimensi: Customer Segment, Product Category, Region, Ship Mode, dan Profitability Category. Temuan utama: segmen Consumer dan wilayah West adalah kontributor terbesar. Yang menarik, wilayah Central punya sales lebih tinggi dari South tapi profitnya lebih rendah, menunjukkan masalah efisiensi. Hampir 19% dari seluruh order ternyata merugi, dengan rata-rata diskon yang jauh lebih tinggi.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Analisis outlier menggunakan metode IQR menemukan bahwa variabel Profit memiliki proporsi outlier tertinggi, 18,82% dari seluruh data. Scatter plot Discount vs Profit menunjukkan pola yang sangat jelas: semakin besar diskon, semakin besar kemungkinan order tersebut merugi. Sembilan dari sepuluh order dengan kerugian terbesar memiliki diskon 70% ke 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insight kunci dari keseluruhan analisis: pertama, bisnis menunjukkan pertumbuhan yang konsisten dengan pola musiman yang jelas. Kedua, diskon besar adalah akar masalah utama order yang merugi. Ketiga, ada ketimpangan efisiensi antar wilayah, khususnya di Central. Keempat, risiko kerugian terkonsentrasi pada sub-kategori produk tertentu.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permasalahan utama teridentifikasi: kebijakan diskon yang tidak terkontrol menjadi penyebab hampir seperlima order merugi; margin rendah di region Central; ketergantungan tinggi pada momentum musiman kuartal keempat; dan konsentrasi risiko kerugian pada sub-kategori produk tertentu seperti Machines dan Binders.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permasalahan yang ditemukan, teridentifikasi empat peluang bisnis: optimalisasi kebijakan diskon, persiapan kapasitas untuk momentum musiman, ekspansi ke segmen Home Office yang masih kecil tapi profitable, dan strategi perataan penjualan di periode sepi seperti Januari-Februari.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Berdasarkan seluruh analisis, ada lima rekomendasi konkret: pertama, batasi diskon maksimum untuk produk berisiko tinggi. Kedua, audit biaya operasional di region Central. Ketiga, siapkan kapasitas untuk momentum musiman kuartal empat. Keempat, bangun sistem approval otomatis untuk diskon besar. Kelima, rancang promosi khusus di periode sepi penjualan.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atas perhatiannya. Saya siap menerima pertanyaan atau diskusi lebih lanjut mengenai analisis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ext 0"/>
          <p:cNvSpPr/>
          <p:nvPr/>
        </p:nvSpPr>
        <p:spPr>
          <a:xfrm>
            <a:off x="731520" y="2194560"/>
            <a:ext cx="10698480"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FINAL PROJECT EDA</a:t>
            </a:r>
            <a:endParaRPr lang="en-US" sz="4000" dirty="0"/>
          </a:p>
        </p:txBody>
      </p:sp>
      <p:sp>
        <p:nvSpPr>
          <p:cNvPr id="3" name="Text 1"/>
          <p:cNvSpPr/>
          <p:nvPr/>
        </p:nvSpPr>
        <p:spPr>
          <a:xfrm>
            <a:off x="731520" y="3063240"/>
            <a:ext cx="10698480" cy="548640"/>
          </a:xfrm>
          <a:prstGeom prst="rect">
            <a:avLst/>
          </a:prstGeom>
          <a:noFill/>
          <a:ln/>
        </p:spPr>
        <p:txBody>
          <a:bodyPr wrap="square" rtlCol="0" anchor="ctr"/>
          <a:lstStyle/>
          <a:p>
            <a:pPr indent="0" marL="0">
              <a:buNone/>
            </a:pPr>
            <a:r>
              <a:rPr lang="en-US" sz="2000" dirty="0">
                <a:solidFill>
                  <a:srgbClr val="BFD6EE"/>
                </a:solidFill>
                <a:latin typeface="Calibri" pitchFamily="34" charset="0"/>
                <a:ea typeface="Calibri" pitchFamily="34" charset="-122"/>
                <a:cs typeface="Calibri" pitchFamily="34" charset="-120"/>
              </a:rPr>
              <a:t>Exploratory Data Analysis — Superstore Sales Dataset</a:t>
            </a:r>
            <a:endParaRPr lang="en-US" sz="2000" dirty="0"/>
          </a:p>
        </p:txBody>
      </p:sp>
      <p:sp>
        <p:nvSpPr>
          <p:cNvPr id="4" name="Text 2"/>
          <p:cNvSpPr/>
          <p:nvPr/>
        </p:nvSpPr>
        <p:spPr>
          <a:xfrm>
            <a:off x="731520" y="4480560"/>
            <a:ext cx="10698480" cy="365760"/>
          </a:xfrm>
          <a:prstGeom prst="rect">
            <a:avLst/>
          </a:prstGeom>
          <a:noFill/>
          <a:ln/>
        </p:spPr>
        <p:txBody>
          <a:bodyPr wrap="square" rtlCol="0" anchor="ctr"/>
          <a:lstStyle/>
          <a:p>
            <a:pPr indent="0" marL="0">
              <a:buNone/>
            </a:pPr>
            <a:r>
              <a:rPr lang="en-US" sz="1300" dirty="0">
                <a:solidFill>
                  <a:srgbClr val="8FB3DB"/>
                </a:solidFill>
                <a:latin typeface="Calibri" pitchFamily="34" charset="0"/>
                <a:ea typeface="Calibri" pitchFamily="34" charset="-122"/>
                <a:cs typeface="Calibri" pitchFamily="34" charset="-120"/>
              </a:rPr>
              <a:t>Simulasi Industri Junior Data Analyst  |  Topik 4: Exploratory Data Analysis (EDA)  |  Minggu 6-7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548640"/>
          </a:xfrm>
          <a:prstGeom prst="rect">
            <a:avLst/>
          </a:prstGeom>
          <a:noFill/>
          <a:ln/>
        </p:spPr>
        <p:txBody>
          <a:bodyPr wrap="square" rtlCol="0" anchor="ctr"/>
          <a:lstStyle/>
          <a:p>
            <a:pPr indent="0" marL="0">
              <a:buNone/>
            </a:pPr>
            <a:r>
              <a:rPr lang="en-US" sz="2800" b="1" dirty="0">
                <a:solidFill>
                  <a:srgbClr val="1F4E79"/>
                </a:solidFill>
                <a:latin typeface="Calibri" pitchFamily="34" charset="0"/>
                <a:ea typeface="Calibri" pitchFamily="34" charset="-122"/>
                <a:cs typeface="Calibri" pitchFamily="34" charset="-120"/>
              </a:rPr>
              <a:t>Gambaran Dataset</a:t>
            </a:r>
            <a:endParaRPr lang="en-US" sz="2800" dirty="0"/>
          </a:p>
        </p:txBody>
      </p:sp>
      <p:sp>
        <p:nvSpPr>
          <p:cNvPr id="3" name="Text 1"/>
          <p:cNvSpPr/>
          <p:nvPr/>
        </p:nvSpPr>
        <p:spPr>
          <a:xfrm>
            <a:off x="548640" y="914400"/>
            <a:ext cx="7315200" cy="36576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Sample - Superstore Dataset (Kaggle)</a:t>
            </a:r>
            <a:endParaRPr lang="en-US" sz="1300" dirty="0"/>
          </a:p>
        </p:txBody>
      </p:sp>
      <p:sp>
        <p:nvSpPr>
          <p:cNvPr id="4" name="Shape 2"/>
          <p:cNvSpPr/>
          <p:nvPr/>
        </p:nvSpPr>
        <p:spPr>
          <a:xfrm>
            <a:off x="548640" y="1554480"/>
            <a:ext cx="2606040" cy="1371600"/>
          </a:xfrm>
          <a:prstGeom prst="roundRect">
            <a:avLst>
              <a:gd name="adj" fmla="val 5333"/>
            </a:avLst>
          </a:prstGeom>
          <a:solidFill>
            <a:srgbClr val="F2F6FA"/>
          </a:solidFill>
          <a:ln w="12700">
            <a:solidFill>
              <a:srgbClr val="E2E8F0"/>
            </a:solidFill>
            <a:prstDash val="solid"/>
          </a:ln>
        </p:spPr>
      </p:sp>
      <p:sp>
        <p:nvSpPr>
          <p:cNvPr id="5" name="Text 3"/>
          <p:cNvSpPr/>
          <p:nvPr/>
        </p:nvSpPr>
        <p:spPr>
          <a:xfrm>
            <a:off x="548640" y="1691640"/>
            <a:ext cx="2606040" cy="640080"/>
          </a:xfrm>
          <a:prstGeom prst="rect">
            <a:avLst/>
          </a:prstGeom>
          <a:noFill/>
          <a:ln/>
        </p:spPr>
        <p:txBody>
          <a:bodyPr wrap="square" rtlCol="0" anchor="ctr"/>
          <a:lstStyle/>
          <a:p>
            <a:pPr algn="ctr" indent="0" marL="0">
              <a:buNone/>
            </a:pPr>
            <a:r>
              <a:rPr lang="en-US" sz="2600" b="1" dirty="0">
                <a:solidFill>
                  <a:srgbClr val="1F4E79"/>
                </a:solidFill>
                <a:latin typeface="Calibri" pitchFamily="34" charset="0"/>
                <a:ea typeface="Calibri" pitchFamily="34" charset="-122"/>
                <a:cs typeface="Calibri" pitchFamily="34" charset="-120"/>
              </a:rPr>
              <a:t>9.994</a:t>
            </a:r>
            <a:endParaRPr lang="en-US" sz="2600" dirty="0"/>
          </a:p>
        </p:txBody>
      </p:sp>
      <p:sp>
        <p:nvSpPr>
          <p:cNvPr id="6" name="Text 4"/>
          <p:cNvSpPr/>
          <p:nvPr/>
        </p:nvSpPr>
        <p:spPr>
          <a:xfrm>
            <a:off x="548640" y="2331720"/>
            <a:ext cx="2606040"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Total Transaksi</a:t>
            </a:r>
            <a:endParaRPr lang="en-US" sz="1100" dirty="0"/>
          </a:p>
        </p:txBody>
      </p:sp>
      <p:sp>
        <p:nvSpPr>
          <p:cNvPr id="7" name="Shape 5"/>
          <p:cNvSpPr/>
          <p:nvPr/>
        </p:nvSpPr>
        <p:spPr>
          <a:xfrm>
            <a:off x="3337560" y="1554480"/>
            <a:ext cx="2606040" cy="1371600"/>
          </a:xfrm>
          <a:prstGeom prst="roundRect">
            <a:avLst>
              <a:gd name="adj" fmla="val 5333"/>
            </a:avLst>
          </a:prstGeom>
          <a:solidFill>
            <a:srgbClr val="F2F6FA"/>
          </a:solidFill>
          <a:ln w="12700">
            <a:solidFill>
              <a:srgbClr val="E2E8F0"/>
            </a:solidFill>
            <a:prstDash val="solid"/>
          </a:ln>
        </p:spPr>
      </p:sp>
      <p:sp>
        <p:nvSpPr>
          <p:cNvPr id="8" name="Text 6"/>
          <p:cNvSpPr/>
          <p:nvPr/>
        </p:nvSpPr>
        <p:spPr>
          <a:xfrm>
            <a:off x="3337560" y="1691640"/>
            <a:ext cx="2606040" cy="640080"/>
          </a:xfrm>
          <a:prstGeom prst="rect">
            <a:avLst/>
          </a:prstGeom>
          <a:noFill/>
          <a:ln/>
        </p:spPr>
        <p:txBody>
          <a:bodyPr wrap="square" rtlCol="0" anchor="ctr"/>
          <a:lstStyle/>
          <a:p>
            <a:pPr algn="ctr" indent="0" marL="0">
              <a:buNone/>
            </a:pPr>
            <a:r>
              <a:rPr lang="en-US" sz="2600" b="1" dirty="0">
                <a:solidFill>
                  <a:srgbClr val="1F4E79"/>
                </a:solidFill>
                <a:latin typeface="Calibri" pitchFamily="34" charset="0"/>
                <a:ea typeface="Calibri" pitchFamily="34" charset="-122"/>
                <a:cs typeface="Calibri" pitchFamily="34" charset="-120"/>
              </a:rPr>
              <a:t>4 Tahun</a:t>
            </a:r>
            <a:endParaRPr lang="en-US" sz="2600" dirty="0"/>
          </a:p>
        </p:txBody>
      </p:sp>
      <p:sp>
        <p:nvSpPr>
          <p:cNvPr id="9" name="Text 7"/>
          <p:cNvSpPr/>
          <p:nvPr/>
        </p:nvSpPr>
        <p:spPr>
          <a:xfrm>
            <a:off x="3337560" y="2331720"/>
            <a:ext cx="2606040"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Jan 2014 - Des 2017</a:t>
            </a:r>
            <a:endParaRPr lang="en-US" sz="1100" dirty="0"/>
          </a:p>
        </p:txBody>
      </p:sp>
      <p:sp>
        <p:nvSpPr>
          <p:cNvPr id="10" name="Shape 8"/>
          <p:cNvSpPr/>
          <p:nvPr/>
        </p:nvSpPr>
        <p:spPr>
          <a:xfrm>
            <a:off x="6126480" y="1554480"/>
            <a:ext cx="2606040" cy="1371600"/>
          </a:xfrm>
          <a:prstGeom prst="roundRect">
            <a:avLst>
              <a:gd name="adj" fmla="val 5333"/>
            </a:avLst>
          </a:prstGeom>
          <a:solidFill>
            <a:srgbClr val="F2F6FA"/>
          </a:solidFill>
          <a:ln w="12700">
            <a:solidFill>
              <a:srgbClr val="E2E8F0"/>
            </a:solidFill>
            <a:prstDash val="solid"/>
          </a:ln>
        </p:spPr>
      </p:sp>
      <p:sp>
        <p:nvSpPr>
          <p:cNvPr id="11" name="Text 9"/>
          <p:cNvSpPr/>
          <p:nvPr/>
        </p:nvSpPr>
        <p:spPr>
          <a:xfrm>
            <a:off x="6126480" y="1691640"/>
            <a:ext cx="2606040" cy="640080"/>
          </a:xfrm>
          <a:prstGeom prst="rect">
            <a:avLst/>
          </a:prstGeom>
          <a:noFill/>
          <a:ln/>
        </p:spPr>
        <p:txBody>
          <a:bodyPr wrap="square" rtlCol="0" anchor="ctr"/>
          <a:lstStyle/>
          <a:p>
            <a:pPr algn="ctr" indent="0" marL="0">
              <a:buNone/>
            </a:pPr>
            <a:r>
              <a:rPr lang="en-US" sz="2600" b="1" dirty="0">
                <a:solidFill>
                  <a:srgbClr val="1F4E79"/>
                </a:solidFill>
                <a:latin typeface="Calibri" pitchFamily="34" charset="0"/>
                <a:ea typeface="Calibri" pitchFamily="34" charset="-122"/>
                <a:cs typeface="Calibri" pitchFamily="34" charset="-120"/>
              </a:rPr>
              <a:t>793</a:t>
            </a:r>
            <a:endParaRPr lang="en-US" sz="2600" dirty="0"/>
          </a:p>
        </p:txBody>
      </p:sp>
      <p:sp>
        <p:nvSpPr>
          <p:cNvPr id="12" name="Text 10"/>
          <p:cNvSpPr/>
          <p:nvPr/>
        </p:nvSpPr>
        <p:spPr>
          <a:xfrm>
            <a:off x="6126480" y="2331720"/>
            <a:ext cx="2606040"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Pelanggan Unik</a:t>
            </a:r>
            <a:endParaRPr lang="en-US" sz="1100" dirty="0"/>
          </a:p>
        </p:txBody>
      </p:sp>
      <p:sp>
        <p:nvSpPr>
          <p:cNvPr id="13" name="Shape 11"/>
          <p:cNvSpPr/>
          <p:nvPr/>
        </p:nvSpPr>
        <p:spPr>
          <a:xfrm>
            <a:off x="8915400" y="1554480"/>
            <a:ext cx="2606040" cy="1371600"/>
          </a:xfrm>
          <a:prstGeom prst="roundRect">
            <a:avLst>
              <a:gd name="adj" fmla="val 5333"/>
            </a:avLst>
          </a:prstGeom>
          <a:solidFill>
            <a:srgbClr val="F2F6FA"/>
          </a:solidFill>
          <a:ln w="12700">
            <a:solidFill>
              <a:srgbClr val="E2E8F0"/>
            </a:solidFill>
            <a:prstDash val="solid"/>
          </a:ln>
        </p:spPr>
      </p:sp>
      <p:sp>
        <p:nvSpPr>
          <p:cNvPr id="14" name="Text 12"/>
          <p:cNvSpPr/>
          <p:nvPr/>
        </p:nvSpPr>
        <p:spPr>
          <a:xfrm>
            <a:off x="8915400" y="1691640"/>
            <a:ext cx="2606040" cy="640080"/>
          </a:xfrm>
          <a:prstGeom prst="rect">
            <a:avLst/>
          </a:prstGeom>
          <a:noFill/>
          <a:ln/>
        </p:spPr>
        <p:txBody>
          <a:bodyPr wrap="square" rtlCol="0" anchor="ctr"/>
          <a:lstStyle/>
          <a:p>
            <a:pPr algn="ctr" indent="0" marL="0">
              <a:buNone/>
            </a:pPr>
            <a:r>
              <a:rPr lang="en-US" sz="2600" b="1" dirty="0">
                <a:solidFill>
                  <a:srgbClr val="1F4E79"/>
                </a:solidFill>
                <a:latin typeface="Calibri" pitchFamily="34" charset="0"/>
                <a:ea typeface="Calibri" pitchFamily="34" charset="-122"/>
                <a:cs typeface="Calibri" pitchFamily="34" charset="-120"/>
              </a:rPr>
              <a:t>1.850</a:t>
            </a:r>
            <a:endParaRPr lang="en-US" sz="2600" dirty="0"/>
          </a:p>
        </p:txBody>
      </p:sp>
      <p:sp>
        <p:nvSpPr>
          <p:cNvPr id="15" name="Text 13"/>
          <p:cNvSpPr/>
          <p:nvPr/>
        </p:nvSpPr>
        <p:spPr>
          <a:xfrm>
            <a:off x="8915400" y="2331720"/>
            <a:ext cx="2606040"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Produk Unik</a:t>
            </a:r>
            <a:endParaRPr lang="en-US" sz="1100" dirty="0"/>
          </a:p>
        </p:txBody>
      </p:sp>
      <p:sp>
        <p:nvSpPr>
          <p:cNvPr id="16" name="Text 14"/>
          <p:cNvSpPr/>
          <p:nvPr/>
        </p:nvSpPr>
        <p:spPr>
          <a:xfrm>
            <a:off x="548640" y="3246120"/>
            <a:ext cx="4572000" cy="365760"/>
          </a:xfrm>
          <a:prstGeom prst="rect">
            <a:avLst/>
          </a:prstGeom>
          <a:noFill/>
          <a:ln/>
        </p:spPr>
        <p:txBody>
          <a:bodyPr wrap="square" rtlCol="0" anchor="ctr"/>
          <a:lstStyle/>
          <a:p>
            <a:pPr indent="0" marL="0">
              <a:buNone/>
            </a:pPr>
            <a:r>
              <a:rPr lang="en-US" sz="1500" b="1" dirty="0">
                <a:solidFill>
                  <a:srgbClr val="1F4E79"/>
                </a:solidFill>
                <a:latin typeface="Calibri" pitchFamily="34" charset="0"/>
                <a:ea typeface="Calibri" pitchFamily="34" charset="-122"/>
                <a:cs typeface="Calibri" pitchFamily="34" charset="-120"/>
              </a:rPr>
              <a:t>Kolom Utama</a:t>
            </a:r>
            <a:endParaRPr lang="en-US" sz="1500" dirty="0"/>
          </a:p>
        </p:txBody>
      </p:sp>
      <p:sp>
        <p:nvSpPr>
          <p:cNvPr id="17" name="Text 15"/>
          <p:cNvSpPr/>
          <p:nvPr/>
        </p:nvSpPr>
        <p:spPr>
          <a:xfrm>
            <a:off x="548640" y="3657600"/>
            <a:ext cx="6675120" cy="2377440"/>
          </a:xfrm>
          <a:prstGeom prst="rect">
            <a:avLst/>
          </a:prstGeom>
          <a:noFill/>
          <a:ln/>
        </p:spPr>
        <p:txBody>
          <a:bodyPr wrap="square" rtlCol="0" anchor="ctr"/>
          <a:lstStyle/>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Order Date, Ship Date — informasi waktu transaksi</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Region, State, City — informasi wilayah</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Category, Sub-Category, Product Name — informasi produk</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Segment (Consumer/Corporate/Home Office) — tipe pelanggan</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Sales, Profit, Discount, Quantity — metrik transaksi</a:t>
            </a:r>
            <a:endParaRPr lang="en-US" sz="1250" dirty="0"/>
          </a:p>
        </p:txBody>
      </p:sp>
      <p:sp>
        <p:nvSpPr>
          <p:cNvPr id="18" name="Shape 16"/>
          <p:cNvSpPr/>
          <p:nvPr/>
        </p:nvSpPr>
        <p:spPr>
          <a:xfrm>
            <a:off x="7589520" y="3246120"/>
            <a:ext cx="4023360" cy="2834640"/>
          </a:xfrm>
          <a:prstGeom prst="roundRect">
            <a:avLst>
              <a:gd name="adj" fmla="val 2581"/>
            </a:avLst>
          </a:prstGeom>
          <a:solidFill>
            <a:srgbClr val="1F4E79"/>
          </a:solidFill>
          <a:ln/>
        </p:spPr>
      </p:sp>
      <p:sp>
        <p:nvSpPr>
          <p:cNvPr id="19" name="Text 17"/>
          <p:cNvSpPr/>
          <p:nvPr/>
        </p:nvSpPr>
        <p:spPr>
          <a:xfrm>
            <a:off x="7863840" y="3429000"/>
            <a:ext cx="34747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Mengapa Dataset Ini?</a:t>
            </a:r>
            <a:endParaRPr lang="en-US" sz="1300" dirty="0"/>
          </a:p>
        </p:txBody>
      </p:sp>
      <p:sp>
        <p:nvSpPr>
          <p:cNvPr id="20" name="Text 18"/>
          <p:cNvSpPr/>
          <p:nvPr/>
        </p:nvSpPr>
        <p:spPr>
          <a:xfrm>
            <a:off x="7863840" y="3840480"/>
            <a:ext cx="3474720" cy="2103120"/>
          </a:xfrm>
          <a:prstGeom prst="rect">
            <a:avLst/>
          </a:prstGeom>
          <a:noFill/>
          <a:ln/>
        </p:spPr>
        <p:txBody>
          <a:bodyPr wrap="square" rtlCol="0" anchor="t"/>
          <a:lstStyle/>
          <a:p>
            <a:pPr indent="0" marL="0">
              <a:buNone/>
            </a:pPr>
            <a:r>
              <a:rPr lang="en-US" sz="1150" dirty="0">
                <a:solidFill>
                  <a:srgbClr val="D9E6F5"/>
                </a:solidFill>
                <a:latin typeface="Calibri" pitchFamily="34" charset="0"/>
                <a:ea typeface="Calibri" pitchFamily="34" charset="-122"/>
                <a:cs typeface="Calibri" pitchFamily="34" charset="-120"/>
              </a:rPr>
              <a:t>Dataset ini dipilih karena memiliki kolom wilayah (Region), kategori produk, segmen pelanggan, dan rentang waktu 4 tahun — memenuhi seluruh kebutuhan analisis EDA dari statistik dasar hingga tren, segmentasi, dan deteksi outlier.</a:t>
            </a:r>
            <a:endParaRPr lang="en-US" sz="1150" dirty="0"/>
          </a:p>
        </p:txBody>
      </p:sp>
      <p:sp>
        <p:nvSpPr>
          <p:cNvPr id="21" name="Text 19"/>
          <p:cNvSpPr/>
          <p:nvPr/>
        </p:nvSpPr>
        <p:spPr>
          <a:xfrm>
            <a:off x="365760" y="6537960"/>
            <a:ext cx="7315200" cy="274320"/>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Simulasi Industri Junior Data Analyst — Final Project EDA</a:t>
            </a:r>
            <a:endParaRPr lang="en-US" sz="800" dirty="0"/>
          </a:p>
        </p:txBody>
      </p:sp>
      <p:sp>
        <p:nvSpPr>
          <p:cNvPr id="22" name="Text 20"/>
          <p:cNvSpPr/>
          <p:nvPr/>
        </p:nvSpPr>
        <p:spPr>
          <a:xfrm>
            <a:off x="11612880" y="653796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548640"/>
          </a:xfrm>
          <a:prstGeom prst="rect">
            <a:avLst/>
          </a:prstGeom>
          <a:noFill/>
          <a:ln/>
        </p:spPr>
        <p:txBody>
          <a:bodyPr wrap="square" rtlCol="0" anchor="ctr"/>
          <a:lstStyle/>
          <a:p>
            <a:pPr indent="0" marL="0">
              <a:buNone/>
            </a:pPr>
            <a:r>
              <a:rPr lang="en-US" sz="2800" b="1" dirty="0">
                <a:solidFill>
                  <a:srgbClr val="1F4E79"/>
                </a:solidFill>
                <a:latin typeface="Calibri" pitchFamily="34" charset="0"/>
                <a:ea typeface="Calibri" pitchFamily="34" charset="-122"/>
                <a:cs typeface="Calibri" pitchFamily="34" charset="-120"/>
              </a:rPr>
              <a:t>Statistik Deskriptif</a:t>
            </a:r>
            <a:endParaRPr lang="en-US" sz="2800" dirty="0"/>
          </a:p>
        </p:txBody>
      </p:sp>
      <p:sp>
        <p:nvSpPr>
          <p:cNvPr id="3" name="Text 1"/>
          <p:cNvSpPr/>
          <p:nvPr/>
        </p:nvSpPr>
        <p:spPr>
          <a:xfrm>
            <a:off x="548640" y="914400"/>
            <a:ext cx="7315200" cy="36576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Ringkasan statistik untuk variabel numerik utama</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2194560"/>
        </p:xfrm>
        <a:graphic>
          <a:graphicData uri="http://schemas.openxmlformats.org/drawingml/2006/table">
            <a:tbl>
              <a:tblPr/>
              <a:tblGrid>
                <a:gridCol w="1219200"/>
                <a:gridCol w="1219200"/>
                <a:gridCol w="1219200"/>
                <a:gridCol w="1219200"/>
                <a:gridCol w="1219200"/>
                <a:gridCol w="1219200"/>
              </a:tblGrid>
              <a:tr h="43891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Variabel</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Mean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Median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Std Dev</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Min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Max</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4E79"/>
                    </a:solidFill>
                  </a:tcPr>
                </a:tc>
              </a:tr>
              <a:tr h="438912">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Sales ($)</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229.86</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54.49</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623.25</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0.44</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22,638.48</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38912">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Profit ($)</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28.66</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8.67</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234.26</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-6,599.98</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8,399.98</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38912">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Discount</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0.16</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0.21</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0.00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38912">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Quantity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3.79</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3.00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2.23</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8412480" y="1463040"/>
            <a:ext cx="3200400" cy="4480560"/>
          </a:xfrm>
          <a:prstGeom prst="roundRect">
            <a:avLst>
              <a:gd name="adj" fmla="val 2286"/>
            </a:avLst>
          </a:prstGeom>
          <a:solidFill>
            <a:srgbClr val="F2F6FA"/>
          </a:solidFill>
          <a:ln w="12700">
            <a:solidFill>
              <a:srgbClr val="E2E8F0"/>
            </a:solidFill>
            <a:prstDash val="solid"/>
          </a:ln>
        </p:spPr>
      </p:sp>
      <p:sp>
        <p:nvSpPr>
          <p:cNvPr id="6" name="Text 3"/>
          <p:cNvSpPr/>
          <p:nvPr/>
        </p:nvSpPr>
        <p:spPr>
          <a:xfrm>
            <a:off x="8641080" y="1645920"/>
            <a:ext cx="2743200" cy="365760"/>
          </a:xfrm>
          <a:prstGeom prst="rect">
            <a:avLst/>
          </a:prstGeom>
          <a:noFill/>
          <a:ln/>
        </p:spPr>
        <p:txBody>
          <a:bodyPr wrap="square"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Insight Cepat</a:t>
            </a:r>
            <a:endParaRPr lang="en-US" sz="1300" dirty="0"/>
          </a:p>
        </p:txBody>
      </p:sp>
      <p:sp>
        <p:nvSpPr>
          <p:cNvPr id="7" name="Text 4"/>
          <p:cNvSpPr/>
          <p:nvPr/>
        </p:nvSpPr>
        <p:spPr>
          <a:xfrm>
            <a:off x="8641080" y="2057400"/>
            <a:ext cx="2743200" cy="3749040"/>
          </a:xfrm>
          <a:prstGeom prst="rect">
            <a:avLst/>
          </a:prstGeom>
          <a:noFill/>
          <a:ln/>
        </p:spPr>
        <p:txBody>
          <a:bodyPr wrap="square" rtlCol="0" anchor="ctr"/>
          <a:lstStyle/>
          <a:p>
            <a:pPr marL="342900" indent="-342900">
              <a:spcAft>
                <a:spcPts val="1000"/>
              </a:spcAft>
              <a:buSzPct val="100000"/>
              <a:buChar char="•"/>
            </a:pPr>
            <a:r>
              <a:rPr lang="en-US" sz="1050" dirty="0">
                <a:solidFill>
                  <a:srgbClr val="1A1A2E"/>
                </a:solidFill>
                <a:latin typeface="Calibri" pitchFamily="34" charset="0"/>
                <a:ea typeface="Calibri" pitchFamily="34" charset="-122"/>
                <a:cs typeface="Calibri" pitchFamily="34" charset="-120"/>
              </a:rPr>
              <a:t>Mean Sales ($229,86) jauh lebih tinggi dari median ($54,49) - distribusi condong ke kanan, mayoritas transaksi bernilai kecil, sedikit transaksi besar.</a:t>
            </a:r>
            <a:endParaRPr lang="en-US" sz="1050" dirty="0"/>
          </a:p>
          <a:p>
            <a:pPr marL="342900" indent="-342900">
              <a:spcAft>
                <a:spcPts val="1000"/>
              </a:spcAft>
              <a:buSzPct val="100000"/>
              <a:buChar char="•"/>
            </a:pPr>
            <a:r>
              <a:rPr lang="en-US" sz="1050" dirty="0">
                <a:solidFill>
                  <a:srgbClr val="1A1A2E"/>
                </a:solidFill>
                <a:latin typeface="Calibri" pitchFamily="34" charset="0"/>
                <a:ea typeface="Calibri" pitchFamily="34" charset="-122"/>
                <a:cs typeface="Calibri" pitchFamily="34" charset="-120"/>
              </a:rPr>
              <a:t>Profit minimum sangat negatif (-$6.599,98) mengindikasikan adanya order dengan kerugian ekstrem.</a:t>
            </a:r>
            <a:endParaRPr lang="en-US" sz="1050" dirty="0"/>
          </a:p>
          <a:p>
            <a:pPr marL="342900" indent="-342900">
              <a:spcAft>
                <a:spcPts val="1000"/>
              </a:spcAft>
              <a:buSzPct val="100000"/>
              <a:buChar char="•"/>
            </a:pPr>
            <a:r>
              <a:rPr lang="en-US" sz="1050" dirty="0">
                <a:solidFill>
                  <a:srgbClr val="1A1A2E"/>
                </a:solidFill>
                <a:latin typeface="Calibri" pitchFamily="34" charset="0"/>
                <a:ea typeface="Calibri" pitchFamily="34" charset="-122"/>
                <a:cs typeface="Calibri" pitchFamily="34" charset="-120"/>
              </a:rPr>
              <a:t>Rata-rata diskon 16%, tapi bisa mencapai 80% - ini akan dibahas di bagian outlier.</a:t>
            </a:r>
            <a:endParaRPr lang="en-US" sz="1050" dirty="0"/>
          </a:p>
        </p:txBody>
      </p:sp>
      <p:sp>
        <p:nvSpPr>
          <p:cNvPr id="8" name="Text 5"/>
          <p:cNvSpPr/>
          <p:nvPr/>
        </p:nvSpPr>
        <p:spPr>
          <a:xfrm>
            <a:off x="365760" y="6537960"/>
            <a:ext cx="7315200" cy="274320"/>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Simulasi Industri Junior Data Analyst — Final Project EDA</a:t>
            </a:r>
            <a:endParaRPr lang="en-US" sz="800" dirty="0"/>
          </a:p>
        </p:txBody>
      </p:sp>
      <p:sp>
        <p:nvSpPr>
          <p:cNvPr id="9" name="Text 6"/>
          <p:cNvSpPr/>
          <p:nvPr/>
        </p:nvSpPr>
        <p:spPr>
          <a:xfrm>
            <a:off x="11612880" y="653796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Visualisasi Utama: Tren Penjualan</a:t>
            </a:r>
            <a:endParaRPr lang="en-US" sz="2600" dirty="0"/>
          </a:p>
        </p:txBody>
      </p:sp>
      <p:pic>
        <p:nvPicPr>
          <p:cNvPr id="3" name="Image 0" descr="/home/claude/trend_monthly_superstore.png">    </p:cNvPr>
          <p:cNvPicPr>
            <a:picLocks noChangeAspect="1"/>
          </p:cNvPicPr>
          <p:nvPr/>
        </p:nvPicPr>
        <p:blipFill>
          <a:blip r:embed="rId1"/>
          <a:stretch>
            <a:fillRect/>
          </a:stretch>
        </p:blipFill>
        <p:spPr>
          <a:xfrm>
            <a:off x="548640" y="1051560"/>
            <a:ext cx="7680960" cy="3246120"/>
          </a:xfrm>
          <a:prstGeom prst="rect">
            <a:avLst/>
          </a:prstGeom>
        </p:spPr>
      </p:pic>
      <p:sp>
        <p:nvSpPr>
          <p:cNvPr id="4" name="Shape 1"/>
          <p:cNvSpPr/>
          <p:nvPr/>
        </p:nvSpPr>
        <p:spPr>
          <a:xfrm>
            <a:off x="8458200" y="1051560"/>
            <a:ext cx="3154680" cy="4892040"/>
          </a:xfrm>
          <a:prstGeom prst="roundRect">
            <a:avLst>
              <a:gd name="adj" fmla="val 2319"/>
            </a:avLst>
          </a:prstGeom>
          <a:solidFill>
            <a:srgbClr val="F2F6FA"/>
          </a:solidFill>
          <a:ln w="12700">
            <a:solidFill>
              <a:srgbClr val="E2E8F0"/>
            </a:solidFill>
            <a:prstDash val="solid"/>
          </a:ln>
        </p:spPr>
      </p:sp>
      <p:sp>
        <p:nvSpPr>
          <p:cNvPr id="5" name="Text 2"/>
          <p:cNvSpPr/>
          <p:nvPr/>
        </p:nvSpPr>
        <p:spPr>
          <a:xfrm>
            <a:off x="8686800" y="1234440"/>
            <a:ext cx="2743200" cy="320040"/>
          </a:xfrm>
          <a:prstGeom prst="rect">
            <a:avLst/>
          </a:prstGeom>
          <a:noFill/>
          <a:ln/>
        </p:spPr>
        <p:txBody>
          <a:bodyPr wrap="square"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Growth YoY</a:t>
            </a:r>
            <a:endParaRPr lang="en-US" sz="1300" dirty="0"/>
          </a:p>
        </p:txBody>
      </p:sp>
      <p:sp>
        <p:nvSpPr>
          <p:cNvPr id="6" name="Text 3"/>
          <p:cNvSpPr/>
          <p:nvPr/>
        </p:nvSpPr>
        <p:spPr>
          <a:xfrm>
            <a:off x="8686800" y="1645920"/>
            <a:ext cx="1097280" cy="36576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2015</a:t>
            </a:r>
            <a:endParaRPr lang="en-US" sz="1300" dirty="0"/>
          </a:p>
        </p:txBody>
      </p:sp>
      <p:sp>
        <p:nvSpPr>
          <p:cNvPr id="7" name="Text 4"/>
          <p:cNvSpPr/>
          <p:nvPr/>
        </p:nvSpPr>
        <p:spPr>
          <a:xfrm>
            <a:off x="9966960" y="1645920"/>
            <a:ext cx="1463040" cy="365760"/>
          </a:xfrm>
          <a:prstGeom prst="rect">
            <a:avLst/>
          </a:prstGeom>
          <a:noFill/>
          <a:ln/>
        </p:spPr>
        <p:txBody>
          <a:bodyPr wrap="square" rtlCol="0" anchor="ctr"/>
          <a:lstStyle/>
          <a:p>
            <a:pPr algn="r" indent="0" marL="0">
              <a:buNone/>
            </a:pPr>
            <a:r>
              <a:rPr lang="en-US" sz="1300" b="1" dirty="0">
                <a:solidFill>
                  <a:srgbClr val="C0392B"/>
                </a:solidFill>
                <a:latin typeface="Calibri" pitchFamily="34" charset="0"/>
                <a:ea typeface="Calibri" pitchFamily="34" charset="-122"/>
                <a:cs typeface="Calibri" pitchFamily="34" charset="-120"/>
              </a:rPr>
              <a:t>-2.8%</a:t>
            </a:r>
            <a:endParaRPr lang="en-US" sz="1300" dirty="0"/>
          </a:p>
        </p:txBody>
      </p:sp>
      <p:sp>
        <p:nvSpPr>
          <p:cNvPr id="8" name="Text 5"/>
          <p:cNvSpPr/>
          <p:nvPr/>
        </p:nvSpPr>
        <p:spPr>
          <a:xfrm>
            <a:off x="8686800" y="2103120"/>
            <a:ext cx="1097280" cy="36576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2016</a:t>
            </a:r>
            <a:endParaRPr lang="en-US" sz="1300" dirty="0"/>
          </a:p>
        </p:txBody>
      </p:sp>
      <p:sp>
        <p:nvSpPr>
          <p:cNvPr id="9" name="Text 6"/>
          <p:cNvSpPr/>
          <p:nvPr/>
        </p:nvSpPr>
        <p:spPr>
          <a:xfrm>
            <a:off x="9966960" y="2103120"/>
            <a:ext cx="1463040" cy="365760"/>
          </a:xfrm>
          <a:prstGeom prst="rect">
            <a:avLst/>
          </a:prstGeom>
          <a:noFill/>
          <a:ln/>
        </p:spPr>
        <p:txBody>
          <a:bodyPr wrap="square" rtlCol="0" anchor="ctr"/>
          <a:lstStyle/>
          <a:p>
            <a:pPr algn="r" indent="0" marL="0">
              <a:buNone/>
            </a:pPr>
            <a:r>
              <a:rPr lang="en-US" sz="1300" b="1" dirty="0">
                <a:solidFill>
                  <a:srgbClr val="2E8B57"/>
                </a:solidFill>
                <a:latin typeface="Calibri" pitchFamily="34" charset="0"/>
                <a:ea typeface="Calibri" pitchFamily="34" charset="-122"/>
                <a:cs typeface="Calibri" pitchFamily="34" charset="-120"/>
              </a:rPr>
              <a:t>+29.5%</a:t>
            </a:r>
            <a:endParaRPr lang="en-US" sz="1300" dirty="0"/>
          </a:p>
        </p:txBody>
      </p:sp>
      <p:sp>
        <p:nvSpPr>
          <p:cNvPr id="10" name="Text 7"/>
          <p:cNvSpPr/>
          <p:nvPr/>
        </p:nvSpPr>
        <p:spPr>
          <a:xfrm>
            <a:off x="8686800" y="2560320"/>
            <a:ext cx="1097280" cy="36576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2017</a:t>
            </a:r>
            <a:endParaRPr lang="en-US" sz="1300" dirty="0"/>
          </a:p>
        </p:txBody>
      </p:sp>
      <p:sp>
        <p:nvSpPr>
          <p:cNvPr id="11" name="Text 8"/>
          <p:cNvSpPr/>
          <p:nvPr/>
        </p:nvSpPr>
        <p:spPr>
          <a:xfrm>
            <a:off x="9966960" y="2560320"/>
            <a:ext cx="1463040" cy="365760"/>
          </a:xfrm>
          <a:prstGeom prst="rect">
            <a:avLst/>
          </a:prstGeom>
          <a:noFill/>
          <a:ln/>
        </p:spPr>
        <p:txBody>
          <a:bodyPr wrap="square" rtlCol="0" anchor="ctr"/>
          <a:lstStyle/>
          <a:p>
            <a:pPr algn="r" indent="0" marL="0">
              <a:buNone/>
            </a:pPr>
            <a:r>
              <a:rPr lang="en-US" sz="1300" b="1" dirty="0">
                <a:solidFill>
                  <a:srgbClr val="2E8B57"/>
                </a:solidFill>
                <a:latin typeface="Calibri" pitchFamily="34" charset="0"/>
                <a:ea typeface="Calibri" pitchFamily="34" charset="-122"/>
                <a:cs typeface="Calibri" pitchFamily="34" charset="-120"/>
              </a:rPr>
              <a:t>+20.4%</a:t>
            </a:r>
            <a:endParaRPr lang="en-US" sz="1300" dirty="0"/>
          </a:p>
        </p:txBody>
      </p:sp>
      <p:sp>
        <p:nvSpPr>
          <p:cNvPr id="12" name="Shape 9"/>
          <p:cNvSpPr/>
          <p:nvPr/>
        </p:nvSpPr>
        <p:spPr>
          <a:xfrm>
            <a:off x="8686800" y="3108960"/>
            <a:ext cx="2743200" cy="0"/>
          </a:xfrm>
          <a:prstGeom prst="line">
            <a:avLst/>
          </a:prstGeom>
          <a:noFill/>
          <a:ln w="12700">
            <a:solidFill>
              <a:srgbClr val="D9D9D9"/>
            </a:solidFill>
            <a:prstDash val="solid"/>
          </a:ln>
        </p:spPr>
      </p:sp>
      <p:sp>
        <p:nvSpPr>
          <p:cNvPr id="13" name="Text 10"/>
          <p:cNvSpPr/>
          <p:nvPr/>
        </p:nvSpPr>
        <p:spPr>
          <a:xfrm>
            <a:off x="8686800" y="3246120"/>
            <a:ext cx="2743200" cy="320040"/>
          </a:xfrm>
          <a:prstGeom prst="rect">
            <a:avLst/>
          </a:prstGeom>
          <a:noFill/>
          <a:ln/>
        </p:spPr>
        <p:txBody>
          <a:bodyPr wrap="square"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Bulan Puncak</a:t>
            </a:r>
            <a:endParaRPr lang="en-US" sz="1300" dirty="0"/>
          </a:p>
        </p:txBody>
      </p:sp>
      <p:sp>
        <p:nvSpPr>
          <p:cNvPr id="14" name="Text 11"/>
          <p:cNvSpPr/>
          <p:nvPr/>
        </p:nvSpPr>
        <p:spPr>
          <a:xfrm>
            <a:off x="8686800" y="3657600"/>
            <a:ext cx="2743200" cy="1188720"/>
          </a:xfrm>
          <a:prstGeom prst="rect">
            <a:avLst/>
          </a:prstGeom>
          <a:noFill/>
          <a:ln/>
        </p:spPr>
        <p:txBody>
          <a:bodyPr wrap="square" rtlCol="0" anchor="ctr"/>
          <a:lstStyle/>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November ($352K)</a:t>
            </a:r>
            <a:endParaRPr lang="en-US" sz="1150" dirty="0"/>
          </a:p>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Desember ($325K)</a:t>
            </a:r>
            <a:endParaRPr lang="en-US" sz="1150" dirty="0"/>
          </a:p>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September ($308K)</a:t>
            </a:r>
            <a:endParaRPr lang="en-US" sz="1150" dirty="0"/>
          </a:p>
        </p:txBody>
      </p:sp>
      <p:sp>
        <p:nvSpPr>
          <p:cNvPr id="15" name="Shape 12"/>
          <p:cNvSpPr/>
          <p:nvPr/>
        </p:nvSpPr>
        <p:spPr>
          <a:xfrm>
            <a:off x="8686800" y="4937760"/>
            <a:ext cx="2743200" cy="0"/>
          </a:xfrm>
          <a:prstGeom prst="line">
            <a:avLst/>
          </a:prstGeom>
          <a:noFill/>
          <a:ln w="12700">
            <a:solidFill>
              <a:srgbClr val="D9D9D9"/>
            </a:solidFill>
            <a:prstDash val="solid"/>
          </a:ln>
        </p:spPr>
      </p:sp>
      <p:sp>
        <p:nvSpPr>
          <p:cNvPr id="16" name="Text 13"/>
          <p:cNvSpPr/>
          <p:nvPr/>
        </p:nvSpPr>
        <p:spPr>
          <a:xfrm>
            <a:off x="8686800" y="5074920"/>
            <a:ext cx="2743200" cy="82296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Total penjualan tumbuh lebih dari 50% dari 2014 ke 2017.</a:t>
            </a:r>
            <a:endParaRPr lang="en-US" sz="1100" dirty="0"/>
          </a:p>
        </p:txBody>
      </p:sp>
      <p:sp>
        <p:nvSpPr>
          <p:cNvPr id="17" name="Text 14"/>
          <p:cNvSpPr/>
          <p:nvPr/>
        </p:nvSpPr>
        <p:spPr>
          <a:xfrm>
            <a:off x="365760" y="6537960"/>
            <a:ext cx="7315200" cy="274320"/>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Simulasi Industri Junior Data Analyst — Final Project EDA</a:t>
            </a:r>
            <a:endParaRPr lang="en-US" sz="800" dirty="0"/>
          </a:p>
        </p:txBody>
      </p:sp>
      <p:sp>
        <p:nvSpPr>
          <p:cNvPr id="18" name="Text 15"/>
          <p:cNvSpPr/>
          <p:nvPr/>
        </p:nvSpPr>
        <p:spPr>
          <a:xfrm>
            <a:off x="11612880" y="653796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Visualisasi Utama: Segmentasi</a:t>
            </a:r>
            <a:endParaRPr lang="en-US" sz="2600" dirty="0"/>
          </a:p>
        </p:txBody>
      </p:sp>
      <p:graphicFrame>
        <p:nvGraphicFramePr>
          <p:cNvPr id="3" name="Chart 0" descr=""/>
          <p:cNvGraphicFramePr/>
          <p:nvPr/>
        </p:nvGraphicFramePr>
        <p:xfrm>
          <a:off x="548640" y="1097280"/>
          <a:ext cx="539496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097280"/>
          <a:ext cx="5394960" cy="274320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548640" y="4069080"/>
            <a:ext cx="11064240" cy="1874520"/>
          </a:xfrm>
          <a:prstGeom prst="roundRect">
            <a:avLst>
              <a:gd name="adj" fmla="val 3902"/>
            </a:avLst>
          </a:prstGeom>
          <a:solidFill>
            <a:srgbClr val="F2F6FA"/>
          </a:solidFill>
          <a:ln/>
        </p:spPr>
      </p:sp>
      <p:sp>
        <p:nvSpPr>
          <p:cNvPr id="6" name="Text 2"/>
          <p:cNvSpPr/>
          <p:nvPr/>
        </p:nvSpPr>
        <p:spPr>
          <a:xfrm>
            <a:off x="822960" y="4206240"/>
            <a:ext cx="10515600" cy="365760"/>
          </a:xfrm>
          <a:prstGeom prst="rect">
            <a:avLst/>
          </a:prstGeom>
          <a:noFill/>
          <a:ln/>
        </p:spPr>
        <p:txBody>
          <a:bodyPr wrap="square"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5 segmentasi dianalisis: Customer Segment, Product Category, Region, Ship Mode, dan Profitability Category.</a:t>
            </a:r>
            <a:endParaRPr lang="en-US" sz="1200" dirty="0"/>
          </a:p>
        </p:txBody>
      </p:sp>
      <p:sp>
        <p:nvSpPr>
          <p:cNvPr id="7" name="Text 3"/>
          <p:cNvSpPr/>
          <p:nvPr/>
        </p:nvSpPr>
        <p:spPr>
          <a:xfrm>
            <a:off x="822960" y="4617720"/>
            <a:ext cx="10515600" cy="1234440"/>
          </a:xfrm>
          <a:prstGeom prst="rect">
            <a:avLst/>
          </a:prstGeom>
          <a:noFill/>
          <a:ln/>
        </p:spPr>
        <p:txBody>
          <a:bodyPr wrap="square" rtlCol="0" anchor="ctr"/>
          <a:lstStyle/>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Consumer (52%) dan wilayah West mendominasi penjualan &amp; profit.</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Central memiliki sales lebih tinggi dari South, tapi profit lebih rendah - indikasi masalah margin.</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18,7% order (1.871 dari 9.994) bersifat loss-making, dengan rata-rata diskon 48,1%.</a:t>
            </a:r>
            <a:endParaRPr lang="en-US" sz="1150" dirty="0"/>
          </a:p>
        </p:txBody>
      </p:sp>
      <p:sp>
        <p:nvSpPr>
          <p:cNvPr id="8" name="Text 4"/>
          <p:cNvSpPr/>
          <p:nvPr/>
        </p:nvSpPr>
        <p:spPr>
          <a:xfrm>
            <a:off x="365760" y="6537960"/>
            <a:ext cx="7315200" cy="274320"/>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Simulasi Industri Junior Data Analyst — Final Project EDA</a:t>
            </a:r>
            <a:endParaRPr lang="en-US" sz="800" dirty="0"/>
          </a:p>
        </p:txBody>
      </p:sp>
      <p:sp>
        <p:nvSpPr>
          <p:cNvPr id="9" name="Text 5"/>
          <p:cNvSpPr/>
          <p:nvPr/>
        </p:nvSpPr>
        <p:spPr>
          <a:xfrm>
            <a:off x="11612880" y="653796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rtlCol="0" anchor="ctr"/>
          <a:lstStyle/>
          <a:p>
            <a:pPr indent="0" marL="0">
              <a:buNone/>
            </a:pPr>
            <a:r>
              <a:rPr lang="en-US" sz="2600" b="1" dirty="0">
                <a:solidFill>
                  <a:srgbClr val="1F4E79"/>
                </a:solidFill>
                <a:latin typeface="Calibri" pitchFamily="34" charset="0"/>
                <a:ea typeface="Calibri" pitchFamily="34" charset="-122"/>
                <a:cs typeface="Calibri" pitchFamily="34" charset="-120"/>
              </a:rPr>
              <a:t>Visualisasi Utama: Outlier &amp; Pola</a:t>
            </a:r>
            <a:endParaRPr lang="en-US" sz="2600" dirty="0"/>
          </a:p>
        </p:txBody>
      </p:sp>
      <p:pic>
        <p:nvPicPr>
          <p:cNvPr id="3" name="Image 0" descr="/home/claude/out_cell4_img1.png">    </p:cNvPr>
          <p:cNvPicPr>
            <a:picLocks noChangeAspect="1"/>
          </p:cNvPicPr>
          <p:nvPr/>
        </p:nvPicPr>
        <p:blipFill>
          <a:blip r:embed="rId1"/>
          <a:stretch>
            <a:fillRect/>
          </a:stretch>
        </p:blipFill>
        <p:spPr>
          <a:xfrm>
            <a:off x="548640" y="1051560"/>
            <a:ext cx="6949440" cy="4160520"/>
          </a:xfrm>
          <a:prstGeom prst="rect">
            <a:avLst/>
          </a:prstGeom>
        </p:spPr>
      </p:pic>
      <p:sp>
        <p:nvSpPr>
          <p:cNvPr id="4" name="Shape 1"/>
          <p:cNvSpPr/>
          <p:nvPr/>
        </p:nvSpPr>
        <p:spPr>
          <a:xfrm>
            <a:off x="7772400" y="1051560"/>
            <a:ext cx="3840480" cy="4892040"/>
          </a:xfrm>
          <a:prstGeom prst="roundRect">
            <a:avLst>
              <a:gd name="adj" fmla="val 1905"/>
            </a:avLst>
          </a:prstGeom>
          <a:solidFill>
            <a:srgbClr val="F2F6FA"/>
          </a:solidFill>
          <a:ln w="12700">
            <a:solidFill>
              <a:srgbClr val="E2E8F0"/>
            </a:solidFill>
            <a:prstDash val="solid"/>
          </a:ln>
        </p:spPr>
      </p:sp>
      <p:sp>
        <p:nvSpPr>
          <p:cNvPr id="5" name="Text 2"/>
          <p:cNvSpPr/>
          <p:nvPr/>
        </p:nvSpPr>
        <p:spPr>
          <a:xfrm>
            <a:off x="8001000" y="1234440"/>
            <a:ext cx="3383280" cy="320040"/>
          </a:xfrm>
          <a:prstGeom prst="rect">
            <a:avLst/>
          </a:prstGeom>
          <a:noFill/>
          <a:ln/>
        </p:spPr>
        <p:txBody>
          <a:bodyPr wrap="square"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Temuan Outlier</a:t>
            </a:r>
            <a:endParaRPr lang="en-US" sz="1300" dirty="0"/>
          </a:p>
        </p:txBody>
      </p:sp>
      <p:sp>
        <p:nvSpPr>
          <p:cNvPr id="6" name="Text 3"/>
          <p:cNvSpPr/>
          <p:nvPr/>
        </p:nvSpPr>
        <p:spPr>
          <a:xfrm>
            <a:off x="8001000" y="1645920"/>
            <a:ext cx="3383280" cy="4114800"/>
          </a:xfrm>
          <a:prstGeom prst="rect">
            <a:avLst/>
          </a:prstGeom>
          <a:noFill/>
          <a:ln/>
        </p:spPr>
        <p:txBody>
          <a:bodyPr wrap="square" rtlCol="0" anchor="ctr"/>
          <a:lstStyle/>
          <a:p>
            <a:pPr marL="342900" indent="-342900">
              <a:spcAft>
                <a:spcPts val="1200"/>
              </a:spcAft>
              <a:buSzPct val="100000"/>
              <a:buChar char="•"/>
            </a:pPr>
            <a:r>
              <a:rPr lang="en-US" sz="1150" dirty="0">
                <a:solidFill>
                  <a:srgbClr val="1A1A2E"/>
                </a:solidFill>
                <a:latin typeface="Calibri" pitchFamily="34" charset="0"/>
                <a:ea typeface="Calibri" pitchFamily="34" charset="-122"/>
                <a:cs typeface="Calibri" pitchFamily="34" charset="-120"/>
              </a:rPr>
              <a:t>18,82% data Profit adalah outlier (metode IQR) - proporsi tertinggi dari 4 variabel yang diuji.</a:t>
            </a:r>
            <a:endParaRPr lang="en-US" sz="1150" dirty="0"/>
          </a:p>
          <a:p>
            <a:pPr marL="342900" indent="-342900">
              <a:spcAft>
                <a:spcPts val="1200"/>
              </a:spcAft>
              <a:buSzPct val="100000"/>
              <a:buChar char="•"/>
            </a:pPr>
            <a:r>
              <a:rPr lang="en-US" sz="1150" dirty="0">
                <a:solidFill>
                  <a:srgbClr val="1A1A2E"/>
                </a:solidFill>
                <a:latin typeface="Calibri" pitchFamily="34" charset="0"/>
                <a:ea typeface="Calibri" pitchFamily="34" charset="-122"/>
                <a:cs typeface="Calibri" pitchFamily="34" charset="-120"/>
              </a:rPr>
              <a:t>Order dengan diskon &gt;= 50% jauh lebih sering menghasilkan Profit negatif.</a:t>
            </a:r>
            <a:endParaRPr lang="en-US" sz="1150" dirty="0"/>
          </a:p>
          <a:p>
            <a:pPr marL="342900" indent="-342900">
              <a:spcAft>
                <a:spcPts val="1200"/>
              </a:spcAft>
              <a:buSzPct val="100000"/>
              <a:buChar char="•"/>
            </a:pPr>
            <a:r>
              <a:rPr lang="en-US" sz="1150" dirty="0">
                <a:solidFill>
                  <a:srgbClr val="1A1A2E"/>
                </a:solidFill>
                <a:latin typeface="Calibri" pitchFamily="34" charset="0"/>
                <a:ea typeface="Calibri" pitchFamily="34" charset="-122"/>
                <a:cs typeface="Calibri" pitchFamily="34" charset="-120"/>
              </a:rPr>
              <a:t>9 dari 10 order kerugian terbesar memiliki diskon &gt;= 70%, didominasi sub-kategori Machines &amp; Binders.</a:t>
            </a:r>
            <a:endParaRPr lang="en-US" sz="1150" dirty="0"/>
          </a:p>
          <a:p>
            <a:pPr marL="342900" indent="-342900">
              <a:spcAft>
                <a:spcPts val="1200"/>
              </a:spcAft>
              <a:buSzPct val="100000"/>
              <a:buChar char="•"/>
            </a:pPr>
            <a:r>
              <a:rPr lang="en-US" sz="1150" dirty="0">
                <a:solidFill>
                  <a:srgbClr val="1A1A2E"/>
                </a:solidFill>
                <a:latin typeface="Calibri" pitchFamily="34" charset="0"/>
                <a:ea typeface="Calibri" pitchFamily="34" charset="-122"/>
                <a:cs typeface="Calibri" pitchFamily="34" charset="-120"/>
              </a:rPr>
              <a:t>Sales besar TIDAK menjamin Profit besar - Discount adalah faktor penentu utama.</a:t>
            </a:r>
            <a:endParaRPr lang="en-US" sz="1150" dirty="0"/>
          </a:p>
        </p:txBody>
      </p:sp>
      <p:sp>
        <p:nvSpPr>
          <p:cNvPr id="7" name="Text 4"/>
          <p:cNvSpPr/>
          <p:nvPr/>
        </p:nvSpPr>
        <p:spPr>
          <a:xfrm>
            <a:off x="365760" y="6537960"/>
            <a:ext cx="7315200" cy="274320"/>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Simulasi Industri Junior Data Analyst — Final Project EDA</a:t>
            </a:r>
            <a:endParaRPr lang="en-US" sz="800" dirty="0"/>
          </a:p>
        </p:txBody>
      </p:sp>
      <p:sp>
        <p:nvSpPr>
          <p:cNvPr id="8" name="Text 5"/>
          <p:cNvSpPr/>
          <p:nvPr/>
        </p:nvSpPr>
        <p:spPr>
          <a:xfrm>
            <a:off x="11612880" y="653796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548640"/>
          </a:xfrm>
          <a:prstGeom prst="rect">
            <a:avLst/>
          </a:prstGeom>
          <a:noFill/>
          <a:ln/>
        </p:spPr>
        <p:txBody>
          <a:bodyPr wrap="square" rtlCol="0" anchor="ctr"/>
          <a:lstStyle/>
          <a:p>
            <a:pPr indent="0" marL="0">
              <a:buNone/>
            </a:pPr>
            <a:r>
              <a:rPr lang="en-US" sz="2800" b="1" dirty="0">
                <a:solidFill>
                  <a:srgbClr val="1F4E79"/>
                </a:solidFill>
                <a:latin typeface="Calibri" pitchFamily="34" charset="0"/>
                <a:ea typeface="Calibri" pitchFamily="34" charset="-122"/>
                <a:cs typeface="Calibri" pitchFamily="34" charset="-120"/>
              </a:rPr>
              <a:t>Insight Penting</a:t>
            </a:r>
            <a:endParaRPr lang="en-US" sz="2800" dirty="0"/>
          </a:p>
        </p:txBody>
      </p:sp>
      <p:sp>
        <p:nvSpPr>
          <p:cNvPr id="3" name="Shape 1"/>
          <p:cNvSpPr/>
          <p:nvPr/>
        </p:nvSpPr>
        <p:spPr>
          <a:xfrm>
            <a:off x="548640" y="1188720"/>
            <a:ext cx="11064240" cy="1143000"/>
          </a:xfrm>
          <a:prstGeom prst="roundRect">
            <a:avLst>
              <a:gd name="adj" fmla="val 4800"/>
            </a:avLst>
          </a:prstGeom>
          <a:solidFill>
            <a:srgbClr val="F2F6FA"/>
          </a:solidFill>
          <a:ln w="12700">
            <a:solidFill>
              <a:srgbClr val="E2E8F0"/>
            </a:solidFill>
            <a:prstDash val="solid"/>
          </a:ln>
        </p:spPr>
      </p:sp>
      <p:sp>
        <p:nvSpPr>
          <p:cNvPr id="4" name="Text 2"/>
          <p:cNvSpPr/>
          <p:nvPr/>
        </p:nvSpPr>
        <p:spPr>
          <a:xfrm>
            <a:off x="777240" y="1188720"/>
            <a:ext cx="914400" cy="1143000"/>
          </a:xfrm>
          <a:prstGeom prst="rect">
            <a:avLst/>
          </a:prstGeom>
          <a:noFill/>
          <a:ln/>
        </p:spPr>
        <p:txBody>
          <a:bodyPr wrap="square" rtlCol="0" anchor="ctr"/>
          <a:lstStyle/>
          <a:p>
            <a:pPr algn="ctr" indent="0" marL="0">
              <a:buNone/>
            </a:pPr>
            <a:r>
              <a:rPr lang="en-US" sz="2600" b="1" dirty="0">
                <a:solidFill>
                  <a:srgbClr val="C7D9EC"/>
                </a:solidFill>
                <a:latin typeface="Calibri" pitchFamily="34" charset="0"/>
                <a:ea typeface="Calibri" pitchFamily="34" charset="-122"/>
                <a:cs typeface="Calibri" pitchFamily="34" charset="-120"/>
              </a:rPr>
              <a:t>01</a:t>
            </a:r>
            <a:endParaRPr lang="en-US" sz="2600" dirty="0"/>
          </a:p>
        </p:txBody>
      </p:sp>
      <p:sp>
        <p:nvSpPr>
          <p:cNvPr id="5" name="Text 3"/>
          <p:cNvSpPr/>
          <p:nvPr/>
        </p:nvSpPr>
        <p:spPr>
          <a:xfrm>
            <a:off x="1828800" y="1307592"/>
            <a:ext cx="9509760" cy="365760"/>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Pertumbuhan Konsisten</a:t>
            </a:r>
            <a:endParaRPr lang="en-US" sz="1400" dirty="0"/>
          </a:p>
        </p:txBody>
      </p:sp>
      <p:sp>
        <p:nvSpPr>
          <p:cNvPr id="6" name="Text 4"/>
          <p:cNvSpPr/>
          <p:nvPr/>
        </p:nvSpPr>
        <p:spPr>
          <a:xfrm>
            <a:off x="1828800" y="1664208"/>
            <a:ext cx="9509760" cy="594360"/>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Penjualan tumbuh signifikan di 2016 (+29,5%) dan 2017 (+20,4%), dengan pola musiman kuat di kuartal 4 setiap tahun.</a:t>
            </a:r>
            <a:endParaRPr lang="en-US" sz="1150" dirty="0"/>
          </a:p>
        </p:txBody>
      </p:sp>
      <p:sp>
        <p:nvSpPr>
          <p:cNvPr id="7" name="Shape 5"/>
          <p:cNvSpPr/>
          <p:nvPr/>
        </p:nvSpPr>
        <p:spPr>
          <a:xfrm>
            <a:off x="548640" y="2487168"/>
            <a:ext cx="11064240" cy="1143000"/>
          </a:xfrm>
          <a:prstGeom prst="roundRect">
            <a:avLst>
              <a:gd name="adj" fmla="val 4800"/>
            </a:avLst>
          </a:prstGeom>
          <a:solidFill>
            <a:srgbClr val="F2F6FA"/>
          </a:solidFill>
          <a:ln w="12700">
            <a:solidFill>
              <a:srgbClr val="E2E8F0"/>
            </a:solidFill>
            <a:prstDash val="solid"/>
          </a:ln>
        </p:spPr>
      </p:sp>
      <p:sp>
        <p:nvSpPr>
          <p:cNvPr id="8" name="Text 6"/>
          <p:cNvSpPr/>
          <p:nvPr/>
        </p:nvSpPr>
        <p:spPr>
          <a:xfrm>
            <a:off x="777240" y="2487168"/>
            <a:ext cx="914400" cy="1143000"/>
          </a:xfrm>
          <a:prstGeom prst="rect">
            <a:avLst/>
          </a:prstGeom>
          <a:noFill/>
          <a:ln/>
        </p:spPr>
        <p:txBody>
          <a:bodyPr wrap="square" rtlCol="0" anchor="ctr"/>
          <a:lstStyle/>
          <a:p>
            <a:pPr algn="ctr" indent="0" marL="0">
              <a:buNone/>
            </a:pPr>
            <a:r>
              <a:rPr lang="en-US" sz="2600" b="1" dirty="0">
                <a:solidFill>
                  <a:srgbClr val="C7D9EC"/>
                </a:solidFill>
                <a:latin typeface="Calibri" pitchFamily="34" charset="0"/>
                <a:ea typeface="Calibri" pitchFamily="34" charset="-122"/>
                <a:cs typeface="Calibri" pitchFamily="34" charset="-120"/>
              </a:rPr>
              <a:t>02</a:t>
            </a:r>
            <a:endParaRPr lang="en-US" sz="2600" dirty="0"/>
          </a:p>
        </p:txBody>
      </p:sp>
      <p:sp>
        <p:nvSpPr>
          <p:cNvPr id="9" name="Text 7"/>
          <p:cNvSpPr/>
          <p:nvPr/>
        </p:nvSpPr>
        <p:spPr>
          <a:xfrm>
            <a:off x="1828800" y="2606040"/>
            <a:ext cx="9509760" cy="365760"/>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Diskon = Penyebab Utama Kerugian</a:t>
            </a:r>
            <a:endParaRPr lang="en-US" sz="1400" dirty="0"/>
          </a:p>
        </p:txBody>
      </p:sp>
      <p:sp>
        <p:nvSpPr>
          <p:cNvPr id="10" name="Text 8"/>
          <p:cNvSpPr/>
          <p:nvPr/>
        </p:nvSpPr>
        <p:spPr>
          <a:xfrm>
            <a:off x="1828800" y="2962656"/>
            <a:ext cx="9509760" cy="594360"/>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Diskon di atas 50-70% adalah pendorong dominan di balik order-order dengan kerugian ekstrem, bukan volume atau nilai penjualan.</a:t>
            </a:r>
            <a:endParaRPr lang="en-US" sz="1150" dirty="0"/>
          </a:p>
        </p:txBody>
      </p:sp>
      <p:sp>
        <p:nvSpPr>
          <p:cNvPr id="11" name="Shape 9"/>
          <p:cNvSpPr/>
          <p:nvPr/>
        </p:nvSpPr>
        <p:spPr>
          <a:xfrm>
            <a:off x="548640" y="3785616"/>
            <a:ext cx="11064240" cy="1143000"/>
          </a:xfrm>
          <a:prstGeom prst="roundRect">
            <a:avLst>
              <a:gd name="adj" fmla="val 4800"/>
            </a:avLst>
          </a:prstGeom>
          <a:solidFill>
            <a:srgbClr val="F2F6FA"/>
          </a:solidFill>
          <a:ln w="12700">
            <a:solidFill>
              <a:srgbClr val="E2E8F0"/>
            </a:solidFill>
            <a:prstDash val="solid"/>
          </a:ln>
        </p:spPr>
      </p:sp>
      <p:sp>
        <p:nvSpPr>
          <p:cNvPr id="12" name="Text 10"/>
          <p:cNvSpPr/>
          <p:nvPr/>
        </p:nvSpPr>
        <p:spPr>
          <a:xfrm>
            <a:off x="777240" y="3785616"/>
            <a:ext cx="914400" cy="1143000"/>
          </a:xfrm>
          <a:prstGeom prst="rect">
            <a:avLst/>
          </a:prstGeom>
          <a:noFill/>
          <a:ln/>
        </p:spPr>
        <p:txBody>
          <a:bodyPr wrap="square" rtlCol="0" anchor="ctr"/>
          <a:lstStyle/>
          <a:p>
            <a:pPr algn="ctr" indent="0" marL="0">
              <a:buNone/>
            </a:pPr>
            <a:r>
              <a:rPr lang="en-US" sz="2600" b="1" dirty="0">
                <a:solidFill>
                  <a:srgbClr val="C7D9EC"/>
                </a:solidFill>
                <a:latin typeface="Calibri" pitchFamily="34" charset="0"/>
                <a:ea typeface="Calibri" pitchFamily="34" charset="-122"/>
                <a:cs typeface="Calibri" pitchFamily="34" charset="-120"/>
              </a:rPr>
              <a:t>03</a:t>
            </a:r>
            <a:endParaRPr lang="en-US" sz="2600" dirty="0"/>
          </a:p>
        </p:txBody>
      </p:sp>
      <p:sp>
        <p:nvSpPr>
          <p:cNvPr id="13" name="Text 11"/>
          <p:cNvSpPr/>
          <p:nvPr/>
        </p:nvSpPr>
        <p:spPr>
          <a:xfrm>
            <a:off x="1828800" y="3904488"/>
            <a:ext cx="9509760" cy="365760"/>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Ketimpangan Regional</a:t>
            </a:r>
            <a:endParaRPr lang="en-US" sz="1400" dirty="0"/>
          </a:p>
        </p:txBody>
      </p:sp>
      <p:sp>
        <p:nvSpPr>
          <p:cNvPr id="14" name="Text 12"/>
          <p:cNvSpPr/>
          <p:nvPr/>
        </p:nvSpPr>
        <p:spPr>
          <a:xfrm>
            <a:off x="1828800" y="4261104"/>
            <a:ext cx="9509760" cy="594360"/>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Wilayah Central menghasilkan sales lebih tinggi dari South namun profit jauh lebih rendah - ada masalah efisiensi biaya di sana.</a:t>
            </a:r>
            <a:endParaRPr lang="en-US" sz="1150" dirty="0"/>
          </a:p>
        </p:txBody>
      </p:sp>
      <p:sp>
        <p:nvSpPr>
          <p:cNvPr id="15" name="Shape 13"/>
          <p:cNvSpPr/>
          <p:nvPr/>
        </p:nvSpPr>
        <p:spPr>
          <a:xfrm>
            <a:off x="548640" y="5084064"/>
            <a:ext cx="11064240" cy="1143000"/>
          </a:xfrm>
          <a:prstGeom prst="roundRect">
            <a:avLst>
              <a:gd name="adj" fmla="val 4800"/>
            </a:avLst>
          </a:prstGeom>
          <a:solidFill>
            <a:srgbClr val="F2F6FA"/>
          </a:solidFill>
          <a:ln w="12700">
            <a:solidFill>
              <a:srgbClr val="E2E8F0"/>
            </a:solidFill>
            <a:prstDash val="solid"/>
          </a:ln>
        </p:spPr>
      </p:sp>
      <p:sp>
        <p:nvSpPr>
          <p:cNvPr id="16" name="Text 14"/>
          <p:cNvSpPr/>
          <p:nvPr/>
        </p:nvSpPr>
        <p:spPr>
          <a:xfrm>
            <a:off x="777240" y="5084064"/>
            <a:ext cx="914400" cy="1143000"/>
          </a:xfrm>
          <a:prstGeom prst="rect">
            <a:avLst/>
          </a:prstGeom>
          <a:noFill/>
          <a:ln/>
        </p:spPr>
        <p:txBody>
          <a:bodyPr wrap="square" rtlCol="0" anchor="ctr"/>
          <a:lstStyle/>
          <a:p>
            <a:pPr algn="ctr" indent="0" marL="0">
              <a:buNone/>
            </a:pPr>
            <a:r>
              <a:rPr lang="en-US" sz="2600" b="1" dirty="0">
                <a:solidFill>
                  <a:srgbClr val="C7D9EC"/>
                </a:solidFill>
                <a:latin typeface="Calibri" pitchFamily="34" charset="0"/>
                <a:ea typeface="Calibri" pitchFamily="34" charset="-122"/>
                <a:cs typeface="Calibri" pitchFamily="34" charset="-120"/>
              </a:rPr>
              <a:t>04</a:t>
            </a:r>
            <a:endParaRPr lang="en-US" sz="2600" dirty="0"/>
          </a:p>
        </p:txBody>
      </p:sp>
      <p:sp>
        <p:nvSpPr>
          <p:cNvPr id="17" name="Text 15"/>
          <p:cNvSpPr/>
          <p:nvPr/>
        </p:nvSpPr>
        <p:spPr>
          <a:xfrm>
            <a:off x="1828800" y="5202936"/>
            <a:ext cx="9509760" cy="365760"/>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Konsentrasi Risiko Produk</a:t>
            </a:r>
            <a:endParaRPr lang="en-US" sz="1400" dirty="0"/>
          </a:p>
        </p:txBody>
      </p:sp>
      <p:sp>
        <p:nvSpPr>
          <p:cNvPr id="18" name="Text 16"/>
          <p:cNvSpPr/>
          <p:nvPr/>
        </p:nvSpPr>
        <p:spPr>
          <a:xfrm>
            <a:off x="1828800" y="5559552"/>
            <a:ext cx="9509760" cy="594360"/>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Sub-kategori Machines dan Binders paling sering muncul dalam daftar order yang merugi paling besar.</a:t>
            </a:r>
            <a:endParaRPr lang="en-US" sz="115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Simulasi Industri Junior Data Analyst — Final Project EDA</a:t>
            </a:r>
            <a:endParaRPr lang="en-US" sz="800" dirty="0"/>
          </a:p>
        </p:txBody>
      </p:sp>
      <p:sp>
        <p:nvSpPr>
          <p:cNvPr id="20" name="Text 18"/>
          <p:cNvSpPr/>
          <p:nvPr/>
        </p:nvSpPr>
        <p:spPr>
          <a:xfrm>
            <a:off x="11612880" y="653796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rtlCol="0" anchor="ctr"/>
          <a:lstStyle/>
          <a:p>
            <a:pPr indent="0" marL="0">
              <a:buNone/>
            </a:pPr>
            <a:r>
              <a:rPr lang="en-US" sz="2800" b="1" dirty="0">
                <a:solidFill>
                  <a:srgbClr val="1F4E79"/>
                </a:solidFill>
                <a:latin typeface="Calibri" pitchFamily="34" charset="0"/>
                <a:ea typeface="Calibri" pitchFamily="34" charset="-122"/>
                <a:cs typeface="Calibri" pitchFamily="34" charset="-120"/>
              </a:rPr>
              <a:t>Permasalahan yang Ditemukan</a:t>
            </a:r>
            <a:endParaRPr lang="en-US" sz="2800" dirty="0"/>
          </a:p>
        </p:txBody>
      </p:sp>
      <p:sp>
        <p:nvSpPr>
          <p:cNvPr id="3" name="Shape 1"/>
          <p:cNvSpPr/>
          <p:nvPr/>
        </p:nvSpPr>
        <p:spPr>
          <a:xfrm>
            <a:off x="548640" y="1234440"/>
            <a:ext cx="256032" cy="256032"/>
          </a:xfrm>
          <a:prstGeom prst="ellipse">
            <a:avLst/>
          </a:prstGeom>
          <a:solidFill>
            <a:srgbClr val="C0392B"/>
          </a:solidFill>
          <a:ln/>
        </p:spPr>
      </p:sp>
      <p:sp>
        <p:nvSpPr>
          <p:cNvPr id="4" name="Text 2"/>
          <p:cNvSpPr/>
          <p:nvPr/>
        </p:nvSpPr>
        <p:spPr>
          <a:xfrm>
            <a:off x="1005840" y="1188720"/>
            <a:ext cx="10424160" cy="365760"/>
          </a:xfrm>
          <a:prstGeom prst="rect">
            <a:avLst/>
          </a:prstGeom>
          <a:noFill/>
          <a:ln/>
        </p:spPr>
        <p:txBody>
          <a:bodyPr wrap="square"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Kebijakan diskon tidak terkontrol</a:t>
            </a:r>
            <a:endParaRPr lang="en-US" sz="1450" dirty="0"/>
          </a:p>
        </p:txBody>
      </p:sp>
      <p:sp>
        <p:nvSpPr>
          <p:cNvPr id="5" name="Text 3"/>
          <p:cNvSpPr/>
          <p:nvPr/>
        </p:nvSpPr>
        <p:spPr>
          <a:xfrm>
            <a:off x="1005840" y="1554480"/>
            <a:ext cx="10424160" cy="45720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1.871 order (18,7%) merugi, dengan rata-rata diskon 48,1% dibanding 8,1% pada order profitable.</a:t>
            </a:r>
            <a:endParaRPr lang="en-US" sz="1200" dirty="0"/>
          </a:p>
        </p:txBody>
      </p:sp>
      <p:sp>
        <p:nvSpPr>
          <p:cNvPr id="6" name="Shape 4"/>
          <p:cNvSpPr/>
          <p:nvPr/>
        </p:nvSpPr>
        <p:spPr>
          <a:xfrm>
            <a:off x="548640" y="2286000"/>
            <a:ext cx="256032" cy="256032"/>
          </a:xfrm>
          <a:prstGeom prst="ellipse">
            <a:avLst/>
          </a:prstGeom>
          <a:solidFill>
            <a:srgbClr val="C0392B"/>
          </a:solidFill>
          <a:ln/>
        </p:spPr>
      </p:sp>
      <p:sp>
        <p:nvSpPr>
          <p:cNvPr id="7" name="Text 5"/>
          <p:cNvSpPr/>
          <p:nvPr/>
        </p:nvSpPr>
        <p:spPr>
          <a:xfrm>
            <a:off x="1005840" y="2240280"/>
            <a:ext cx="10424160" cy="365760"/>
          </a:xfrm>
          <a:prstGeom prst="rect">
            <a:avLst/>
          </a:prstGeom>
          <a:noFill/>
          <a:ln/>
        </p:spPr>
        <p:txBody>
          <a:bodyPr wrap="square"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Margin rendah di Region Central</a:t>
            </a:r>
            <a:endParaRPr lang="en-US" sz="1450" dirty="0"/>
          </a:p>
        </p:txBody>
      </p:sp>
      <p:sp>
        <p:nvSpPr>
          <p:cNvPr id="8" name="Text 6"/>
          <p:cNvSpPr/>
          <p:nvPr/>
        </p:nvSpPr>
        <p:spPr>
          <a:xfrm>
            <a:off x="1005840" y="2606040"/>
            <a:ext cx="10424160" cy="45720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Sales Central lebih tinggi dari South, tapi profit-nya justru lebih rendah - efisiensi biaya perlu dievaluasi.</a:t>
            </a:r>
            <a:endParaRPr lang="en-US" sz="1200" dirty="0"/>
          </a:p>
        </p:txBody>
      </p:sp>
      <p:sp>
        <p:nvSpPr>
          <p:cNvPr id="9" name="Shape 7"/>
          <p:cNvSpPr/>
          <p:nvPr/>
        </p:nvSpPr>
        <p:spPr>
          <a:xfrm>
            <a:off x="548640" y="3337560"/>
            <a:ext cx="256032" cy="256032"/>
          </a:xfrm>
          <a:prstGeom prst="ellipse">
            <a:avLst/>
          </a:prstGeom>
          <a:solidFill>
            <a:srgbClr val="C0392B"/>
          </a:solidFill>
          <a:ln/>
        </p:spPr>
      </p:sp>
      <p:sp>
        <p:nvSpPr>
          <p:cNvPr id="10" name="Text 8"/>
          <p:cNvSpPr/>
          <p:nvPr/>
        </p:nvSpPr>
        <p:spPr>
          <a:xfrm>
            <a:off x="1005840" y="3291840"/>
            <a:ext cx="10424160" cy="365760"/>
          </a:xfrm>
          <a:prstGeom prst="rect">
            <a:avLst/>
          </a:prstGeom>
          <a:noFill/>
          <a:ln/>
        </p:spPr>
        <p:txBody>
          <a:bodyPr wrap="square"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Ketergantungan pada momentum musiman</a:t>
            </a:r>
            <a:endParaRPr lang="en-US" sz="1450" dirty="0"/>
          </a:p>
        </p:txBody>
      </p:sp>
      <p:sp>
        <p:nvSpPr>
          <p:cNvPr id="11" name="Text 9"/>
          <p:cNvSpPr/>
          <p:nvPr/>
        </p:nvSpPr>
        <p:spPr>
          <a:xfrm>
            <a:off x="1005840" y="3657600"/>
            <a:ext cx="10424160" cy="45720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Lonjakan besar hanya terjadi di Q4; bulan Januari-Februari secara konsisten jadi periode terlemah.</a:t>
            </a:r>
            <a:endParaRPr lang="en-US" sz="1200" dirty="0"/>
          </a:p>
        </p:txBody>
      </p:sp>
      <p:sp>
        <p:nvSpPr>
          <p:cNvPr id="12" name="Shape 10"/>
          <p:cNvSpPr/>
          <p:nvPr/>
        </p:nvSpPr>
        <p:spPr>
          <a:xfrm>
            <a:off x="548640" y="4389120"/>
            <a:ext cx="256032" cy="256032"/>
          </a:xfrm>
          <a:prstGeom prst="ellipse">
            <a:avLst/>
          </a:prstGeom>
          <a:solidFill>
            <a:srgbClr val="C0392B"/>
          </a:solidFill>
          <a:ln/>
        </p:spPr>
      </p:sp>
      <p:sp>
        <p:nvSpPr>
          <p:cNvPr id="13" name="Text 11"/>
          <p:cNvSpPr/>
          <p:nvPr/>
        </p:nvSpPr>
        <p:spPr>
          <a:xfrm>
            <a:off x="1005840" y="4343400"/>
            <a:ext cx="10424160" cy="365760"/>
          </a:xfrm>
          <a:prstGeom prst="rect">
            <a:avLst/>
          </a:prstGeom>
          <a:noFill/>
          <a:ln/>
        </p:spPr>
        <p:txBody>
          <a:bodyPr wrap="square"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Sub-kategori berisiko tinggi</a:t>
            </a:r>
            <a:endParaRPr lang="en-US" sz="1450" dirty="0"/>
          </a:p>
        </p:txBody>
      </p:sp>
      <p:sp>
        <p:nvSpPr>
          <p:cNvPr id="14" name="Text 12"/>
          <p:cNvSpPr/>
          <p:nvPr/>
        </p:nvSpPr>
        <p:spPr>
          <a:xfrm>
            <a:off x="1005840" y="4709160"/>
            <a:ext cx="10424160" cy="45720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Machines dan Binders berulang kali menjadi sumber kerugian terbesar akibat diskon agresif.</a:t>
            </a:r>
            <a:endParaRPr lang="en-US" sz="120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Simulasi Industri Junior Data Analyst — Final Project EDA</a:t>
            </a:r>
            <a:endParaRPr lang="en-US" sz="800" dirty="0"/>
          </a:p>
        </p:txBody>
      </p:sp>
      <p:sp>
        <p:nvSpPr>
          <p:cNvPr id="16" name="Text 14"/>
          <p:cNvSpPr/>
          <p:nvPr/>
        </p:nvSpPr>
        <p:spPr>
          <a:xfrm>
            <a:off x="11612880" y="653796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548640"/>
          </a:xfrm>
          <a:prstGeom prst="rect">
            <a:avLst/>
          </a:prstGeom>
          <a:noFill/>
          <a:ln/>
        </p:spPr>
        <p:txBody>
          <a:bodyPr wrap="square" rtlCol="0" anchor="ctr"/>
          <a:lstStyle/>
          <a:p>
            <a:pPr indent="0" marL="0">
              <a:buNone/>
            </a:pPr>
            <a:r>
              <a:rPr lang="en-US" sz="2800" b="1" dirty="0">
                <a:solidFill>
                  <a:srgbClr val="1F4E79"/>
                </a:solidFill>
                <a:latin typeface="Calibri" pitchFamily="34" charset="0"/>
                <a:ea typeface="Calibri" pitchFamily="34" charset="-122"/>
                <a:cs typeface="Calibri" pitchFamily="34" charset="-120"/>
              </a:rPr>
              <a:t>Peluang Bisnis</a:t>
            </a:r>
            <a:endParaRPr lang="en-US" sz="2800" dirty="0"/>
          </a:p>
        </p:txBody>
      </p:sp>
      <p:sp>
        <p:nvSpPr>
          <p:cNvPr id="3" name="Shape 1"/>
          <p:cNvSpPr/>
          <p:nvPr/>
        </p:nvSpPr>
        <p:spPr>
          <a:xfrm>
            <a:off x="548640" y="1234440"/>
            <a:ext cx="5349240" cy="2103120"/>
          </a:xfrm>
          <a:prstGeom prst="roundRect">
            <a:avLst>
              <a:gd name="adj" fmla="val 3478"/>
            </a:avLst>
          </a:prstGeom>
          <a:solidFill>
            <a:srgbClr val="F2F6FA"/>
          </a:solidFill>
          <a:ln w="12700">
            <a:solidFill>
              <a:srgbClr val="E2E8F0"/>
            </a:solidFill>
            <a:prstDash val="solid"/>
          </a:ln>
        </p:spPr>
      </p:sp>
      <p:sp>
        <p:nvSpPr>
          <p:cNvPr id="4" name="Shape 2"/>
          <p:cNvSpPr/>
          <p:nvPr/>
        </p:nvSpPr>
        <p:spPr>
          <a:xfrm>
            <a:off x="822960" y="1508760"/>
            <a:ext cx="457200" cy="457200"/>
          </a:xfrm>
          <a:prstGeom prst="ellipse">
            <a:avLst/>
          </a:prstGeom>
          <a:solidFill>
            <a:srgbClr val="2E8B57"/>
          </a:solidFill>
          <a:ln/>
        </p:spPr>
      </p:sp>
      <p:sp>
        <p:nvSpPr>
          <p:cNvPr id="5" name="Text 3"/>
          <p:cNvSpPr/>
          <p:nvPr/>
        </p:nvSpPr>
        <p:spPr>
          <a:xfrm>
            <a:off x="822960" y="15087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463040" y="1490472"/>
            <a:ext cx="4206240" cy="502920"/>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Optimalisasi Kebijakan Diskon</a:t>
            </a:r>
            <a:endParaRPr lang="en-US" sz="1400" dirty="0"/>
          </a:p>
        </p:txBody>
      </p:sp>
      <p:sp>
        <p:nvSpPr>
          <p:cNvPr id="7" name="Text 5"/>
          <p:cNvSpPr/>
          <p:nvPr/>
        </p:nvSpPr>
        <p:spPr>
          <a:xfrm>
            <a:off x="822960" y="2103120"/>
            <a:ext cx="4846320" cy="109728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Menetapkan batas diskon rasional berpotensi menyelamatkan sebagian besar dari kerugian akibat 1.871 order loss-making.</a:t>
            </a:r>
            <a:endParaRPr lang="en-US" sz="1100" dirty="0"/>
          </a:p>
        </p:txBody>
      </p:sp>
      <p:sp>
        <p:nvSpPr>
          <p:cNvPr id="8" name="Shape 6"/>
          <p:cNvSpPr/>
          <p:nvPr/>
        </p:nvSpPr>
        <p:spPr>
          <a:xfrm>
            <a:off x="6172200" y="1234440"/>
            <a:ext cx="5349240" cy="2103120"/>
          </a:xfrm>
          <a:prstGeom prst="roundRect">
            <a:avLst>
              <a:gd name="adj" fmla="val 3478"/>
            </a:avLst>
          </a:prstGeom>
          <a:solidFill>
            <a:srgbClr val="F2F6FA"/>
          </a:solidFill>
          <a:ln w="12700">
            <a:solidFill>
              <a:srgbClr val="E2E8F0"/>
            </a:solidFill>
            <a:prstDash val="solid"/>
          </a:ln>
        </p:spPr>
      </p:sp>
      <p:sp>
        <p:nvSpPr>
          <p:cNvPr id="9" name="Shape 7"/>
          <p:cNvSpPr/>
          <p:nvPr/>
        </p:nvSpPr>
        <p:spPr>
          <a:xfrm>
            <a:off x="6446520" y="1508760"/>
            <a:ext cx="457200" cy="457200"/>
          </a:xfrm>
          <a:prstGeom prst="ellipse">
            <a:avLst/>
          </a:prstGeom>
          <a:solidFill>
            <a:srgbClr val="2E8B57"/>
          </a:solidFill>
          <a:ln/>
        </p:spPr>
      </p:sp>
      <p:sp>
        <p:nvSpPr>
          <p:cNvPr id="10" name="Text 8"/>
          <p:cNvSpPr/>
          <p:nvPr/>
        </p:nvSpPr>
        <p:spPr>
          <a:xfrm>
            <a:off x="6446520" y="15087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7086600" y="1490472"/>
            <a:ext cx="4206240" cy="502920"/>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Persiapan Kapasitas Musiman</a:t>
            </a:r>
            <a:endParaRPr lang="en-US" sz="1400" dirty="0"/>
          </a:p>
        </p:txBody>
      </p:sp>
      <p:sp>
        <p:nvSpPr>
          <p:cNvPr id="12" name="Text 10"/>
          <p:cNvSpPr/>
          <p:nvPr/>
        </p:nvSpPr>
        <p:spPr>
          <a:xfrm>
            <a:off x="6446520" y="2103120"/>
            <a:ext cx="4846320" cy="109728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Momentum kuat di Q4 (Sep-Des) bisa dimanfaatkan lebih maksimal dengan perencanaan stok &amp; promosi yang matang.</a:t>
            </a:r>
            <a:endParaRPr lang="en-US" sz="1100" dirty="0"/>
          </a:p>
        </p:txBody>
      </p:sp>
      <p:sp>
        <p:nvSpPr>
          <p:cNvPr id="13" name="Shape 11"/>
          <p:cNvSpPr/>
          <p:nvPr/>
        </p:nvSpPr>
        <p:spPr>
          <a:xfrm>
            <a:off x="548640" y="3566160"/>
            <a:ext cx="5349240" cy="2103120"/>
          </a:xfrm>
          <a:prstGeom prst="roundRect">
            <a:avLst>
              <a:gd name="adj" fmla="val 3478"/>
            </a:avLst>
          </a:prstGeom>
          <a:solidFill>
            <a:srgbClr val="F2F6FA"/>
          </a:solidFill>
          <a:ln w="12700">
            <a:solidFill>
              <a:srgbClr val="E2E8F0"/>
            </a:solidFill>
            <a:prstDash val="solid"/>
          </a:ln>
        </p:spPr>
      </p:sp>
      <p:sp>
        <p:nvSpPr>
          <p:cNvPr id="14" name="Shape 12"/>
          <p:cNvSpPr/>
          <p:nvPr/>
        </p:nvSpPr>
        <p:spPr>
          <a:xfrm>
            <a:off x="822960" y="3840480"/>
            <a:ext cx="457200" cy="457200"/>
          </a:xfrm>
          <a:prstGeom prst="ellipse">
            <a:avLst/>
          </a:prstGeom>
          <a:solidFill>
            <a:srgbClr val="2E8B57"/>
          </a:solidFill>
          <a:ln/>
        </p:spPr>
      </p:sp>
      <p:sp>
        <p:nvSpPr>
          <p:cNvPr id="15" name="Text 13"/>
          <p:cNvSpPr/>
          <p:nvPr/>
        </p:nvSpPr>
        <p:spPr>
          <a:xfrm>
            <a:off x="822960" y="38404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463040" y="3822192"/>
            <a:ext cx="4206240" cy="502920"/>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Ekspansi Segmen Home Office</a:t>
            </a:r>
            <a:endParaRPr lang="en-US" sz="1400" dirty="0"/>
          </a:p>
        </p:txBody>
      </p:sp>
      <p:sp>
        <p:nvSpPr>
          <p:cNvPr id="17" name="Text 15"/>
          <p:cNvSpPr/>
          <p:nvPr/>
        </p:nvSpPr>
        <p:spPr>
          <a:xfrm>
            <a:off x="822960" y="4434840"/>
            <a:ext cx="4846320" cy="109728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Segmen dengan kontribusi terkecil namun tetap profitable - berpotensi jadi target pertumbuhan baru.</a:t>
            </a:r>
            <a:endParaRPr lang="en-US" sz="1100" dirty="0"/>
          </a:p>
        </p:txBody>
      </p:sp>
      <p:sp>
        <p:nvSpPr>
          <p:cNvPr id="18" name="Shape 16"/>
          <p:cNvSpPr/>
          <p:nvPr/>
        </p:nvSpPr>
        <p:spPr>
          <a:xfrm>
            <a:off x="6172200" y="3566160"/>
            <a:ext cx="5349240" cy="2103120"/>
          </a:xfrm>
          <a:prstGeom prst="roundRect">
            <a:avLst>
              <a:gd name="adj" fmla="val 3478"/>
            </a:avLst>
          </a:prstGeom>
          <a:solidFill>
            <a:srgbClr val="F2F6FA"/>
          </a:solidFill>
          <a:ln w="12700">
            <a:solidFill>
              <a:srgbClr val="E2E8F0"/>
            </a:solidFill>
            <a:prstDash val="solid"/>
          </a:ln>
        </p:spPr>
      </p:sp>
      <p:sp>
        <p:nvSpPr>
          <p:cNvPr id="19" name="Shape 17"/>
          <p:cNvSpPr/>
          <p:nvPr/>
        </p:nvSpPr>
        <p:spPr>
          <a:xfrm>
            <a:off x="6446520" y="3840480"/>
            <a:ext cx="457200" cy="457200"/>
          </a:xfrm>
          <a:prstGeom prst="ellipse">
            <a:avLst/>
          </a:prstGeom>
          <a:solidFill>
            <a:srgbClr val="2E8B57"/>
          </a:solidFill>
          <a:ln/>
        </p:spPr>
      </p:sp>
      <p:sp>
        <p:nvSpPr>
          <p:cNvPr id="20" name="Text 18"/>
          <p:cNvSpPr/>
          <p:nvPr/>
        </p:nvSpPr>
        <p:spPr>
          <a:xfrm>
            <a:off x="6446520" y="38404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7086600" y="3822192"/>
            <a:ext cx="4206240" cy="502920"/>
          </a:xfrm>
          <a:prstGeom prst="rect">
            <a:avLst/>
          </a:prstGeom>
          <a:noFill/>
          <a:ln/>
        </p:spPr>
        <p:txBody>
          <a:bodyPr wrap="square"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Perataan Penjualan Off-Season</a:t>
            </a:r>
            <a:endParaRPr lang="en-US" sz="1400" dirty="0"/>
          </a:p>
        </p:txBody>
      </p:sp>
      <p:sp>
        <p:nvSpPr>
          <p:cNvPr id="22" name="Text 20"/>
          <p:cNvSpPr/>
          <p:nvPr/>
        </p:nvSpPr>
        <p:spPr>
          <a:xfrm>
            <a:off x="6446520" y="4434840"/>
            <a:ext cx="4846320" cy="109728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Promosi terarah di Januari-Februari dapat meratakan fluktuasi pendapatan sepanjang tahun.</a:t>
            </a:r>
            <a:endParaRPr lang="en-US" sz="1100" dirty="0"/>
          </a:p>
        </p:txBody>
      </p:sp>
      <p:sp>
        <p:nvSpPr>
          <p:cNvPr id="23" name="Text 21"/>
          <p:cNvSpPr/>
          <p:nvPr/>
        </p:nvSpPr>
        <p:spPr>
          <a:xfrm>
            <a:off x="365760" y="6537960"/>
            <a:ext cx="7315200" cy="274320"/>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Simulasi Industri Junior Data Analyst — Final Project EDA</a:t>
            </a:r>
            <a:endParaRPr lang="en-US" sz="800" dirty="0"/>
          </a:p>
        </p:txBody>
      </p:sp>
      <p:sp>
        <p:nvSpPr>
          <p:cNvPr id="24" name="Text 22"/>
          <p:cNvSpPr/>
          <p:nvPr/>
        </p:nvSpPr>
        <p:spPr>
          <a:xfrm>
            <a:off x="11612880" y="653796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4E79"/>
        </a:solidFill>
      </p:bgPr>
    </p:bg>
    <p:spTree>
      <p:nvGrpSpPr>
        <p:cNvPr id="1" name=""/>
        <p:cNvGrpSpPr/>
        <p:nvPr/>
      </p:nvGrpSpPr>
      <p:grpSpPr>
        <a:xfrm>
          <a:off x="0" y="0"/>
          <a:ext cx="0" cy="0"/>
          <a:chOff x="0" y="0"/>
          <a:chExt cx="0" cy="0"/>
        </a:xfrm>
      </p:grpSpPr>
      <p:sp>
        <p:nvSpPr>
          <p:cNvPr id="2" name="Text 0"/>
          <p:cNvSpPr/>
          <p:nvPr/>
        </p:nvSpPr>
        <p:spPr>
          <a:xfrm>
            <a:off x="548640" y="365760"/>
            <a:ext cx="731520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Rekomendasi</a:t>
            </a:r>
            <a:endParaRPr lang="en-US" sz="2800" dirty="0"/>
          </a:p>
        </p:txBody>
      </p:sp>
      <p:sp>
        <p:nvSpPr>
          <p:cNvPr id="3" name="Text 1"/>
          <p:cNvSpPr/>
          <p:nvPr/>
        </p:nvSpPr>
        <p:spPr>
          <a:xfrm>
            <a:off x="548640" y="914400"/>
            <a:ext cx="7315200" cy="365760"/>
          </a:xfrm>
          <a:prstGeom prst="rect">
            <a:avLst/>
          </a:prstGeom>
          <a:noFill/>
          <a:ln/>
        </p:spPr>
        <p:txBody>
          <a:bodyPr wrap="square" rtlCol="0" anchor="ctr"/>
          <a:lstStyle/>
          <a:p>
            <a:pPr indent="0" marL="0">
              <a:buNone/>
            </a:pPr>
            <a:r>
              <a:rPr lang="en-US" sz="1300" i="1" dirty="0">
                <a:solidFill>
                  <a:srgbClr val="9FB8D9"/>
                </a:solidFill>
                <a:latin typeface="Calibri" pitchFamily="34" charset="0"/>
                <a:ea typeface="Calibri" pitchFamily="34" charset="-122"/>
                <a:cs typeface="Calibri" pitchFamily="34" charset="-120"/>
              </a:rPr>
              <a:t>Langkah-langkah tindak lanjut berbasis data</a:t>
            </a:r>
            <a:endParaRPr lang="en-US" sz="1300" dirty="0"/>
          </a:p>
        </p:txBody>
      </p:sp>
      <p:sp>
        <p:nvSpPr>
          <p:cNvPr id="4" name="Shape 2"/>
          <p:cNvSpPr/>
          <p:nvPr/>
        </p:nvSpPr>
        <p:spPr>
          <a:xfrm>
            <a:off x="548640" y="1600200"/>
            <a:ext cx="502920" cy="502920"/>
          </a:xfrm>
          <a:prstGeom prst="roundRect">
            <a:avLst>
              <a:gd name="adj" fmla="val 10909"/>
            </a:avLst>
          </a:prstGeom>
          <a:solidFill>
            <a:srgbClr val="2E75B6"/>
          </a:solidFill>
          <a:ln/>
        </p:spPr>
      </p:sp>
      <p:sp>
        <p:nvSpPr>
          <p:cNvPr id="5" name="Text 3"/>
          <p:cNvSpPr/>
          <p:nvPr/>
        </p:nvSpPr>
        <p:spPr>
          <a:xfrm>
            <a:off x="548640" y="160020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34440" y="1600200"/>
            <a:ext cx="103327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Terapkan batas maksimum diskon (di bawah 50%) khusus untuk sub-kategori berisiko tinggi seperti Machines dan Binders.</a:t>
            </a:r>
            <a:endParaRPr lang="en-US" sz="1300" dirty="0"/>
          </a:p>
        </p:txBody>
      </p:sp>
      <p:sp>
        <p:nvSpPr>
          <p:cNvPr id="7" name="Shape 5"/>
          <p:cNvSpPr/>
          <p:nvPr/>
        </p:nvSpPr>
        <p:spPr>
          <a:xfrm>
            <a:off x="548640" y="2377440"/>
            <a:ext cx="502920" cy="502920"/>
          </a:xfrm>
          <a:prstGeom prst="roundRect">
            <a:avLst>
              <a:gd name="adj" fmla="val 10909"/>
            </a:avLst>
          </a:prstGeom>
          <a:solidFill>
            <a:srgbClr val="2E75B6"/>
          </a:solidFill>
          <a:ln/>
        </p:spPr>
      </p:sp>
      <p:sp>
        <p:nvSpPr>
          <p:cNvPr id="8" name="Text 6"/>
          <p:cNvSpPr/>
          <p:nvPr/>
        </p:nvSpPr>
        <p:spPr>
          <a:xfrm>
            <a:off x="548640" y="237744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234440" y="2377440"/>
            <a:ext cx="103327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Audit biaya operasional di Region Central untuk memahami dan memperbaiki margin profit yang rendah.</a:t>
            </a:r>
            <a:endParaRPr lang="en-US" sz="1300" dirty="0"/>
          </a:p>
        </p:txBody>
      </p:sp>
      <p:sp>
        <p:nvSpPr>
          <p:cNvPr id="10" name="Shape 8"/>
          <p:cNvSpPr/>
          <p:nvPr/>
        </p:nvSpPr>
        <p:spPr>
          <a:xfrm>
            <a:off x="548640" y="3154680"/>
            <a:ext cx="502920" cy="502920"/>
          </a:xfrm>
          <a:prstGeom prst="roundRect">
            <a:avLst>
              <a:gd name="adj" fmla="val 10909"/>
            </a:avLst>
          </a:prstGeom>
          <a:solidFill>
            <a:srgbClr val="2E75B6"/>
          </a:solidFill>
          <a:ln/>
        </p:spPr>
      </p:sp>
      <p:sp>
        <p:nvSpPr>
          <p:cNvPr id="11" name="Text 9"/>
          <p:cNvSpPr/>
          <p:nvPr/>
        </p:nvSpPr>
        <p:spPr>
          <a:xfrm>
            <a:off x="548640" y="315468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234440" y="3154680"/>
            <a:ext cx="103327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Siapkan stok dan kapasitas operasional lebih besar menjelang kuartal 4 untuk mengoptimalkan momentum musiman.</a:t>
            </a:r>
            <a:endParaRPr lang="en-US" sz="1300" dirty="0"/>
          </a:p>
        </p:txBody>
      </p:sp>
      <p:sp>
        <p:nvSpPr>
          <p:cNvPr id="13" name="Shape 11"/>
          <p:cNvSpPr/>
          <p:nvPr/>
        </p:nvSpPr>
        <p:spPr>
          <a:xfrm>
            <a:off x="548640" y="3931920"/>
            <a:ext cx="502920" cy="502920"/>
          </a:xfrm>
          <a:prstGeom prst="roundRect">
            <a:avLst>
              <a:gd name="adj" fmla="val 10909"/>
            </a:avLst>
          </a:prstGeom>
          <a:solidFill>
            <a:srgbClr val="2E75B6"/>
          </a:solidFill>
          <a:ln/>
        </p:spPr>
      </p:sp>
      <p:sp>
        <p:nvSpPr>
          <p:cNvPr id="14" name="Text 12"/>
          <p:cNvSpPr/>
          <p:nvPr/>
        </p:nvSpPr>
        <p:spPr>
          <a:xfrm>
            <a:off x="548640" y="393192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234440" y="3931920"/>
            <a:ext cx="103327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Bangun sistem approval otomatis yang menandai (flag) order dengan diskon di atas 50% sebelum disetujui.</a:t>
            </a:r>
            <a:endParaRPr lang="en-US" sz="1300" dirty="0"/>
          </a:p>
        </p:txBody>
      </p:sp>
      <p:sp>
        <p:nvSpPr>
          <p:cNvPr id="16" name="Shape 14"/>
          <p:cNvSpPr/>
          <p:nvPr/>
        </p:nvSpPr>
        <p:spPr>
          <a:xfrm>
            <a:off x="548640" y="4709160"/>
            <a:ext cx="502920" cy="502920"/>
          </a:xfrm>
          <a:prstGeom prst="roundRect">
            <a:avLst>
              <a:gd name="adj" fmla="val 10909"/>
            </a:avLst>
          </a:prstGeom>
          <a:solidFill>
            <a:srgbClr val="2E75B6"/>
          </a:solidFill>
          <a:ln/>
        </p:spPr>
      </p:sp>
      <p:sp>
        <p:nvSpPr>
          <p:cNvPr id="17" name="Text 15"/>
          <p:cNvSpPr/>
          <p:nvPr/>
        </p:nvSpPr>
        <p:spPr>
          <a:xfrm>
            <a:off x="548640" y="470916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234440" y="4709160"/>
            <a:ext cx="103327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Rancang kampanye promosi khusus di Januari-Februari untuk meratakan fluktuasi penjualan sepanjang tahun.</a:t>
            </a:r>
            <a:endParaRPr lang="en-US" sz="130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Simulasi Industri Junior Data Analyst — Final Project EDA</a:t>
            </a:r>
            <a:endParaRPr lang="en-US" sz="800" dirty="0"/>
          </a:p>
        </p:txBody>
      </p:sp>
      <p:sp>
        <p:nvSpPr>
          <p:cNvPr id="20" name="Text 18"/>
          <p:cNvSpPr/>
          <p:nvPr/>
        </p:nvSpPr>
        <p:spPr>
          <a:xfrm>
            <a:off x="11612880" y="653796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4E79"/>
        </a:solidFill>
      </p:bgPr>
    </p:bg>
    <p:spTree>
      <p:nvGrpSpPr>
        <p:cNvPr id="1" name=""/>
        <p:cNvGrpSpPr/>
        <p:nvPr/>
      </p:nvGrpSpPr>
      <p:grpSpPr>
        <a:xfrm>
          <a:off x="0" y="0"/>
          <a:ext cx="0" cy="0"/>
          <a:chOff x="0" y="0"/>
          <a:chExt cx="0" cy="0"/>
        </a:xfrm>
      </p:grpSpPr>
      <p:sp>
        <p:nvSpPr>
          <p:cNvPr id="2" name="Text 0"/>
          <p:cNvSpPr/>
          <p:nvPr/>
        </p:nvSpPr>
        <p:spPr>
          <a:xfrm>
            <a:off x="731520" y="2651760"/>
            <a:ext cx="10698480" cy="9144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Terima Kasih</a:t>
            </a:r>
            <a:endParaRPr lang="en-US" sz="3600" dirty="0"/>
          </a:p>
        </p:txBody>
      </p:sp>
      <p:sp>
        <p:nvSpPr>
          <p:cNvPr id="3" name="Text 1"/>
          <p:cNvSpPr/>
          <p:nvPr/>
        </p:nvSpPr>
        <p:spPr>
          <a:xfrm>
            <a:off x="731520" y="3429000"/>
            <a:ext cx="10698480" cy="457200"/>
          </a:xfrm>
          <a:prstGeom prst="rect">
            <a:avLst/>
          </a:prstGeom>
          <a:noFill/>
          <a:ln/>
        </p:spPr>
        <p:txBody>
          <a:bodyPr wrap="square" rtlCol="0" anchor="ctr"/>
          <a:lstStyle/>
          <a:p>
            <a:pPr indent="0" marL="0">
              <a:buNone/>
            </a:pPr>
            <a:r>
              <a:rPr lang="en-US" sz="1600" dirty="0">
                <a:solidFill>
                  <a:srgbClr val="BFD6EE"/>
                </a:solidFill>
                <a:latin typeface="Calibri" pitchFamily="34" charset="0"/>
                <a:ea typeface="Calibri" pitchFamily="34" charset="-122"/>
                <a:cs typeface="Calibri" pitchFamily="34" charset="-120"/>
              </a:rPr>
              <a:t>Diskusi &amp; Pertanyaan</a:t>
            </a:r>
            <a:endParaRPr lang="en-US" sz="1600" dirty="0"/>
          </a:p>
        </p:txBody>
      </p:sp>
      <p:sp>
        <p:nvSpPr>
          <p:cNvPr id="4" name="Text 2"/>
          <p:cNvSpPr/>
          <p:nvPr/>
        </p:nvSpPr>
        <p:spPr>
          <a:xfrm>
            <a:off x="365760" y="6537960"/>
            <a:ext cx="7315200" cy="274320"/>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Simulasi Industri Junior Data Analyst — Final Project EDA</a:t>
            </a:r>
            <a:endParaRPr lang="en-US" sz="800" dirty="0"/>
          </a:p>
        </p:txBody>
      </p:sp>
      <p:sp>
        <p:nvSpPr>
          <p:cNvPr id="5" name="Text 3"/>
          <p:cNvSpPr/>
          <p:nvPr/>
        </p:nvSpPr>
        <p:spPr>
          <a:xfrm>
            <a:off x="11612880" y="6537960"/>
            <a:ext cx="457200" cy="274320"/>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2026-08-14T02:25:40Z</dcterms:created>
  <dcterms:modified xsi:type="dcterms:W3CDTF">2026-08-14T02:25:40Z</dcterms:modified>
</cp:coreProperties>
</file>