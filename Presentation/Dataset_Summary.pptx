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2545"/>
                </a:solidFill>
                <a:latin typeface="Arial"/>
              </a:defRPr>
            </a:pPr>
            <a:r>
              <a:rPr sz="1200" b="0" i="0" u="none" strike="noStrike">
                <a:solidFill>
                  <a:srgbClr val="0B2545"/>
                </a:solidFill>
                <a:latin typeface="Arial"/>
              </a:rPr>
              <a:t>Gender</a:t>
            </a:r>
          </a:p>
        </c:rich>
      </c:tx>
      <c:layout/>
      <c:overlay val="0"/>
    </c:title>
    <c:autoTitleDeleted val="0"/>
    <c:plotArea>
      <c:layout/>
      <c:barChart>
        <c:barDir val="col"/>
        <c:grouping val="clustered"/>
        <c:varyColors val="0"/>
        <c:ser>
          <c:idx val="0"/>
          <c:order val="0"/>
          <c:tx>
            <c:strRef>
              <c:f>Sheet1!$B$1</c:f>
              <c:strCache>
                <c:ptCount val="1"/>
                <c:pt idx="0">
                  <c:v>Gender</c:v>
                </c:pt>
              </c:strCache>
            </c:strRef>
          </c:tx>
          <c:spPr>
            <a:solidFill>
              <a:srgbClr val="1C7293"/>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C7293"/>
              </a:solidFill>
              <a:effectLst/>
            </c:spPr>
          </c:dPt>
          <c:dPt>
            <c:idx val="1"/>
            <c:invertIfNegative val="0"/>
            <c:bubble3D val="0"/>
            <c:spPr>
              <a:solidFill>
                <a:srgbClr val="6FCF97"/>
              </a:solidFill>
              <a:effectLst/>
            </c:spPr>
          </c:dPt>
          <c:cat>
            <c:multiLvlStrRef>
              <c:f>Sheet1!$A$2:$A$3</c:f>
              <c:multiLvlStrCache>
                <c:ptCount val="2"/>
                <c:lvl>
                  <c:pt idx="0">
                    <c:v>Female</c:v>
                  </c:pt>
                  <c:pt idx="1">
                    <c:v>Male</c:v>
                  </c:pt>
                </c:lvl>
              </c:multiLvlStrCache>
            </c:multiLvlStrRef>
          </c:cat>
          <c:val>
            <c:numRef>
              <c:f>Sheet1!$B$2:$B$3</c:f>
              <c:numCache>
                <c:formatCode>General</c:formatCode>
                <c:ptCount val="2"/>
                <c:pt idx="0">
                  <c:v>518</c:v>
                </c:pt>
                <c:pt idx="1">
                  <c:v>482</c:v>
                </c:pt>
              </c:numCache>
            </c:numRef>
          </c:val>
        </c:ser>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2545"/>
                </a:solidFill>
                <a:latin typeface="Arial"/>
              </a:defRPr>
            </a:pPr>
            <a:r>
              <a:rPr sz="1200" b="0" i="0" u="none" strike="noStrike">
                <a:solidFill>
                  <a:srgbClr val="0B2545"/>
                </a:solidFill>
                <a:latin typeface="Arial"/>
              </a:rPr>
              <a:t>Lunch</a:t>
            </a:r>
          </a:p>
        </c:rich>
      </c:tx>
      <c:layout/>
      <c:overlay val="0"/>
    </c:title>
    <c:autoTitleDeleted val="0"/>
    <c:plotArea>
      <c:layout/>
      <c:barChart>
        <c:barDir val="col"/>
        <c:grouping val="clustered"/>
        <c:varyColors val="0"/>
        <c:ser>
          <c:idx val="0"/>
          <c:order val="0"/>
          <c:tx>
            <c:strRef>
              <c:f>Sheet1!$B$1</c:f>
              <c:strCache>
                <c:ptCount val="1"/>
                <c:pt idx="0">
                  <c:v>Lunch</c:v>
                </c:pt>
              </c:strCache>
            </c:strRef>
          </c:tx>
          <c:spPr>
            <a:solidFill>
              <a:srgbClr val="1C7293"/>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C7293"/>
              </a:solidFill>
              <a:effectLst/>
            </c:spPr>
          </c:dPt>
          <c:dPt>
            <c:idx val="1"/>
            <c:invertIfNegative val="0"/>
            <c:bubble3D val="0"/>
            <c:spPr>
              <a:solidFill>
                <a:srgbClr val="6FCF97"/>
              </a:solidFill>
              <a:effectLst/>
            </c:spPr>
          </c:dPt>
          <c:cat>
            <c:multiLvlStrRef>
              <c:f>Sheet1!$A$2:$A$3</c:f>
              <c:multiLvlStrCache>
                <c:ptCount val="2"/>
                <c:lvl>
                  <c:pt idx="0">
                    <c:v>Standard</c:v>
                  </c:pt>
                  <c:pt idx="1">
                    <c:v>Free/Reduced</c:v>
                  </c:pt>
                </c:lvl>
              </c:multiLvlStrCache>
            </c:multiLvlStrRef>
          </c:cat>
          <c:val>
            <c:numRef>
              <c:f>Sheet1!$B$2:$B$3</c:f>
              <c:numCache>
                <c:formatCode>General</c:formatCode>
                <c:ptCount val="2"/>
                <c:pt idx="0">
                  <c:v>645</c:v>
                </c:pt>
                <c:pt idx="1">
                  <c:v>355</c:v>
                </c:pt>
              </c:numCache>
            </c:numRef>
          </c:val>
        </c:ser>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2545"/>
                </a:solidFill>
                <a:latin typeface="Arial"/>
              </a:defRPr>
            </a:pPr>
            <a:r>
              <a:rPr sz="1200" b="0" i="0" u="none" strike="noStrike">
                <a:solidFill>
                  <a:srgbClr val="0B2545"/>
                </a:solidFill>
                <a:latin typeface="Arial"/>
              </a:rPr>
              <a:t>Test Preparation Course</a:t>
            </a:r>
          </a:p>
        </c:rich>
      </c:tx>
      <c:layout/>
      <c:overlay val="0"/>
    </c:title>
    <c:autoTitleDeleted val="0"/>
    <c:plotArea>
      <c:layout/>
      <c:barChart>
        <c:barDir val="col"/>
        <c:grouping val="clustered"/>
        <c:varyColors val="0"/>
        <c:ser>
          <c:idx val="0"/>
          <c:order val="0"/>
          <c:tx>
            <c:strRef>
              <c:f>Sheet1!$B$1</c:f>
              <c:strCache>
                <c:ptCount val="1"/>
                <c:pt idx="0">
                  <c:v>Test Prep</c:v>
                </c:pt>
              </c:strCache>
            </c:strRef>
          </c:tx>
          <c:spPr>
            <a:solidFill>
              <a:srgbClr val="1C7293"/>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C7293"/>
              </a:solidFill>
              <a:effectLst/>
            </c:spPr>
          </c:dPt>
          <c:dPt>
            <c:idx val="1"/>
            <c:invertIfNegative val="0"/>
            <c:bubble3D val="0"/>
            <c:spPr>
              <a:solidFill>
                <a:srgbClr val="6FCF97"/>
              </a:solidFill>
              <a:effectLst/>
            </c:spPr>
          </c:dPt>
          <c:cat>
            <c:multiLvlStrRef>
              <c:f>Sheet1!$A$2:$A$3</c:f>
              <c:multiLvlStrCache>
                <c:ptCount val="2"/>
                <c:lvl>
                  <c:pt idx="0">
                    <c:v>None</c:v>
                  </c:pt>
                  <c:pt idx="1">
                    <c:v>Completed</c:v>
                  </c:pt>
                </c:lvl>
              </c:multiLvlStrCache>
            </c:multiLvlStrRef>
          </c:cat>
          <c:val>
            <c:numRef>
              <c:f>Sheet1!$B$2:$B$3</c:f>
              <c:numCache>
                <c:formatCode>General</c:formatCode>
                <c:ptCount val="2"/>
                <c:pt idx="0">
                  <c:v>642</c:v>
                </c:pt>
                <c:pt idx="1">
                  <c:v>358</c:v>
                </c:pt>
              </c:numCache>
            </c:numRef>
          </c:val>
        </c:ser>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pagi/siang semua. Hari ini saya akan mempresentasikan hasil eksplorasi awal terhadap dataset Students Performance in Exams. Dataset ini berisi 1000 data siswa dengan 8 variabel, mencakup latar belakang siswa seperti gender, tingkat pendidikan orang tua, program makan siang, dan status kursus persiapan ujian, serta tiga nilai hasil ujian: matematika, membaca, dan menulis. Tujuan presentasi ini adalah memahami struktur data, mengecek kualitas data, dan menemukan insight awal yang bisa jadi dasar analisis lebih lanjut.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ini terdiri dari 1000 baris dan 8 kolom, tanpa satupun missing value atau data duplikat — artinya datanya sudah bersih dan siap dianalisis tanpa proses cleaning yang berat. Ada 3 kolom numerik yaitu nilai ujian, dan 5 kolom kategorikal yang menjelaskan latar belakang siswa. Struktur ini penting karena nanti kita bisa melihat apakah faktor latar belakang seperti lunch atau pendidikan orang tua berhubungan dengan nilai ujian. Dari sisi bisnis, kebersihan data ini artinya sekolah atau institusi pendidikan bisa langsung memakai data semacam ini untuk decision-making tanpa risiko bias dari data kosong.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contoh isi datanya secara langsung. Di head(), kita lihat 5 baris pertama — setiap baris mewakili satu siswa dengan latar belakang dan nilainya. Di tail(), kita cek 5 baris terakhir untuk memastikan data konsisten dari awal sampai akhir, tidak ada kerusakan atau pola aneh di bagian bawah file. Melihat contoh data mentah seperti ini penting sebelum mengambil kesimpulan statistik, supaya kita paham konteks aslinya, bukan cuma angka abstrak.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Dari describe(), kita lihat rata-rata nilai matematika 66, membaca 69, dan menulis 68 — jadi membaca sedikit lebih unggul. Standar deviasi di kisaran 14 sampai 15 poin artinya sebaran nilai antar siswa cukup lebar, ada yang sangat rendah dan ada yang sangat tinggi. Yang menarik, nilai minimum matematika itu 0 — ini kemungkinan outlier atau siswa yang tidak mengikuti ujian, dan perlu diinvestigasi lebih lanjut. Hubungannya dengan bisnis: kalau ini data sekolah, angka 0 semacam ini bisa jadi sinyal early warning untuk siswa berisiko drop-out atau butuh intervensi khusus, bukan cuma dianggap sebagai noise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Hasil isnull().sum() menunjukkan semua kolom bernilai 0 missing value — dataset ini benar-benar lengkap. Ini penting karena kalau ada missing value, kita harus memutuskan mau diisi, dihapus, atau diprediksi, dan itu bisa mempengaruhi hasil analisis. Karena di sini tidak ada, kita bisa langsung lanjut ke analisis lanjutan dengan percaya diri. Dari sisi nunique(), kolom kategorikal punya 2 sampai 6 kategori — jumlah yang wajar untuk dianalisis per grup, misalnya membandingkan rata-rata nilai antar grup pendidikan orang tua.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Dari segi gender, populasi cukup seimbang antara perempuan dan laki-laki, jadi analisis berdasarkan gender tidak akan bias oleh ketimpangan jumlah sampel. Untuk lunch, sekitar 35 persen siswa menerima program free/reduced lunch — ini biasa dipakai sebagai proxy status sosial-ekonomi keluarga dalam riset pendidikan. Yang paling menarik dari sisi insight bisnis adalah test preparation course: 64 persen siswa BELUM mengikuti kursus persiapan. Kalau nanti terbukti course ini berkorelasi dengan nilai lebih tinggi, ini peluang besar bagi sekolah atau platform edukasi untuk mendorong lebih banyak siswa ikut program persiapan, karena mayoritas pasar (siswa yang belum ikut) masih besar sekali.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Menggunakan metode IQR, kita temukan beberapa outlier di ketiga nilai ujian, terutama di sisi rendah — termasuk math score yang bernilai 0. Outlier di sisi tinggi hampir tidak ada karena nilai maksimum di dataset ini adalah 100, batas alami skor ujian. Outlier di sisi rendah ini penting untuk ditindaklanjuti: apakah itu representasi siswa yang benar-benar kesulitan, siswa yang tidak hadir ujian, atau kesalahan input data. Dari sudut pandang bisnis atau kebijakan sekolah, siswa-siswa dengan nilai sangat rendah ini adalah kandidat utama untuk program remedial atau pendampingan tambahan.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penutup, saya ingin menyampaikan bagaimana temuan-temuan ini saling berhubungan dan apa insight bisnisnya.
Pertama, soal hubungan antar variabel: dataset ini bersih dan seimbang dari segi gender, artinya kita bisa percaya diri membandingkan performa antar kelompok tanpa bias sampel. Tapi yang paling menonjol adalah pola test preparation course — mayoritas siswa (64%) belum ikut kursus persiapan. Kalau kita hubungkan dengan nilai reading score yang paling tinggi rata-ratanya, ini membuka pertanyaan: apakah siswa yang ikut kursus persiapan punya nilai rata-rata lebih tinggi dibanding yang tidak? Ini analisis lanjutan yang perlu dilakukan, tapi polanya sudah terlihat menjanjikan.
Kedua, soal outlier nilai rendah termasuk math score 0 — ini berhubungan langsung dengan kelompok siswa lunch free/reduced (35% dari total), yang sering jadi proxy status ekonomi keluarga kurang mampu. Kalau outlier rendah ini terkonsentrasi di kelompok tersebut, itu insight penting untuk kebijakan bantuan pendidikan yang lebih tepat sasaran.
Insight bisnis yang bisa diambil:
1. Peluang pasar besar untuk program test preparation course — 64% siswa belum tersentuh, jadi ada ruang besar bagi sekolah atau platform edukasi untuk menawarkan program ini.
2. Data bisa dipakai untuk early-warning system — siswa dengan nilai sangat rendah bisa diidentifikasi lebih awal untuk mendapat pendampingan tambahan sebelum makin tertinggal.
3. Kebijakan bantuan (seperti subsidi lunch) bisa dievaluasi dampaknya terhadap performa akademik dengan menghubungkan kolom lunch dengan nilai ujian pada analisis lanjutan.
4. Karena data ini bersih dan terstruktur, biayanya rendah untuk langsung dipakai sebagai dasar pengambilan keputusan, tanpa perlu proses cleaning tambahan yang memakan waktu.
Itu adalah eksplorasi awal saya. Langkah selanjutnya adalah analisis korelasi dan uji statistik untuk memastikan pola-pola ini signifikan secara statistik, bukan cuma kebetulan.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image" Target="../media/image-6-1.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418320" y="-1371600"/>
            <a:ext cx="4572000" cy="4572000"/>
          </a:xfrm>
          <a:prstGeom prst="ellipse">
            <a:avLst/>
          </a:prstGeom>
          <a:solidFill>
            <a:srgbClr val="1C7293">
              <a:alpha val="22000"/>
            </a:srgbClr>
          </a:solidFill>
          <a:ln/>
        </p:spPr>
      </p:sp>
      <p:sp>
        <p:nvSpPr>
          <p:cNvPr id="3" name="Shape 1"/>
          <p:cNvSpPr/>
          <p:nvPr/>
        </p:nvSpPr>
        <p:spPr>
          <a:xfrm>
            <a:off x="-1371600" y="4389120"/>
            <a:ext cx="3657600" cy="3657600"/>
          </a:xfrm>
          <a:prstGeom prst="ellipse">
            <a:avLst/>
          </a:prstGeom>
          <a:solidFill>
            <a:srgbClr val="6FCF97">
              <a:alpha val="15000"/>
            </a:srgbClr>
          </a:solidFill>
          <a:ln/>
        </p:spPr>
      </p:sp>
      <p:sp>
        <p:nvSpPr>
          <p:cNvPr id="4" name="Text 2"/>
          <p:cNvSpPr/>
          <p:nvPr/>
        </p:nvSpPr>
        <p:spPr>
          <a:xfrm>
            <a:off x="822960" y="2331720"/>
            <a:ext cx="105156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DATASET SUMMARY</a:t>
            </a:r>
            <a:endParaRPr lang="en-US" sz="4400" dirty="0"/>
          </a:p>
        </p:txBody>
      </p:sp>
      <p:sp>
        <p:nvSpPr>
          <p:cNvPr id="5" name="Text 3"/>
          <p:cNvSpPr/>
          <p:nvPr/>
        </p:nvSpPr>
        <p:spPr>
          <a:xfrm>
            <a:off x="822960" y="3246120"/>
            <a:ext cx="10515600" cy="548640"/>
          </a:xfrm>
          <a:prstGeom prst="rect">
            <a:avLst/>
          </a:prstGeom>
          <a:noFill/>
          <a:ln/>
        </p:spPr>
        <p:txBody>
          <a:bodyPr wrap="square" lIns="0" tIns="0" rIns="0" bIns="0" rtlCol="0" anchor="ctr"/>
          <a:lstStyle/>
          <a:p>
            <a:pPr indent="0" marL="0">
              <a:buNone/>
            </a:pPr>
            <a:r>
              <a:rPr lang="en-US" sz="2000" dirty="0">
                <a:solidFill>
                  <a:srgbClr val="6FCF97"/>
                </a:solidFill>
                <a:latin typeface="Calibri" pitchFamily="34" charset="0"/>
                <a:ea typeface="Calibri" pitchFamily="34" charset="-122"/>
                <a:cs typeface="Calibri" pitchFamily="34" charset="-120"/>
              </a:rPr>
              <a:t>Students Performance in Exams Dataset</a:t>
            </a:r>
            <a:endParaRPr lang="en-US" sz="2000" dirty="0"/>
          </a:p>
        </p:txBody>
      </p:sp>
      <p:sp>
        <p:nvSpPr>
          <p:cNvPr id="6" name="Shape 4"/>
          <p:cNvSpPr/>
          <p:nvPr/>
        </p:nvSpPr>
        <p:spPr>
          <a:xfrm>
            <a:off x="868680" y="3977640"/>
            <a:ext cx="2011680" cy="0"/>
          </a:xfrm>
          <a:prstGeom prst="line">
            <a:avLst/>
          </a:prstGeom>
          <a:noFill/>
          <a:ln w="25400">
            <a:solidFill>
              <a:srgbClr val="1C7293"/>
            </a:solidFill>
            <a:prstDash val="solid"/>
          </a:ln>
        </p:spPr>
      </p:sp>
      <p:sp>
        <p:nvSpPr>
          <p:cNvPr id="7" name="Text 5"/>
          <p:cNvSpPr/>
          <p:nvPr/>
        </p:nvSpPr>
        <p:spPr>
          <a:xfrm>
            <a:off x="822960" y="4206240"/>
            <a:ext cx="8229600" cy="731520"/>
          </a:xfrm>
          <a:prstGeom prst="rect">
            <a:avLst/>
          </a:prstGeom>
          <a:noFill/>
          <a:ln/>
        </p:spPr>
        <p:txBody>
          <a:bodyPr wrap="square" lIns="0" tIns="0" rIns="0" bIns="0" rtlCol="0" anchor="ctr"/>
          <a:lstStyle/>
          <a:p>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Materi: Eksplorasi Awal Dataset — Hari Kamis</a:t>
            </a:r>
            <a:endParaRPr lang="en-US" sz="1300" dirty="0"/>
          </a:p>
          <a:p>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Tools: Python (Pandas, Matplotlib) via Google Colab</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C7293"/>
          </a:solidFill>
          <a:ln/>
        </p:spPr>
      </p:sp>
      <p:sp>
        <p:nvSpPr>
          <p:cNvPr id="3" name="Text 1"/>
          <p:cNvSpPr/>
          <p:nvPr/>
        </p:nvSpPr>
        <p:spPr>
          <a:xfrm>
            <a:off x="548640" y="502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4" name="Text 2"/>
          <p:cNvSpPr/>
          <p:nvPr/>
        </p:nvSpPr>
        <p:spPr>
          <a:xfrm>
            <a:off x="1143000" y="502920"/>
            <a:ext cx="7315200" cy="457200"/>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INFO DATASET</a:t>
            </a:r>
            <a:endParaRPr lang="en-US" sz="1300" dirty="0"/>
          </a:p>
        </p:txBody>
      </p:sp>
      <p:sp>
        <p:nvSpPr>
          <p:cNvPr id="5" name="Text 3"/>
          <p:cNvSpPr/>
          <p:nvPr/>
        </p:nvSpPr>
        <p:spPr>
          <a:xfrm>
            <a:off x="548640" y="1051560"/>
            <a:ext cx="7315200" cy="45720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Ringkasan Struktur Dataset</a:t>
            </a:r>
            <a:endParaRPr lang="en-US" sz="2200" dirty="0"/>
          </a:p>
        </p:txBody>
      </p:sp>
      <p:sp>
        <p:nvSpPr>
          <p:cNvPr id="6" name="Shape 4"/>
          <p:cNvSpPr/>
          <p:nvPr/>
        </p:nvSpPr>
        <p:spPr>
          <a:xfrm>
            <a:off x="548640" y="1691640"/>
            <a:ext cx="2514600" cy="1371600"/>
          </a:xfrm>
          <a:prstGeom prst="roundRect">
            <a:avLst>
              <a:gd name="adj" fmla="val 5333"/>
            </a:avLst>
          </a:prstGeom>
          <a:solidFill>
            <a:srgbClr val="FFFFFF"/>
          </a:solidFill>
          <a:ln/>
          <a:effectLst>
            <a:outerShdw sx="100000" sy="100000" kx="0" ky="0" algn="bl" rotWithShape="0" blurRad="101600" dist="38100" dir="5400000">
              <a:srgbClr val="000000">
                <a:alpha val="10000"/>
              </a:srgbClr>
            </a:outerShdw>
          </a:effectLst>
        </p:spPr>
      </p:sp>
      <p:sp>
        <p:nvSpPr>
          <p:cNvPr id="7" name="Text 5"/>
          <p:cNvSpPr/>
          <p:nvPr/>
        </p:nvSpPr>
        <p:spPr>
          <a:xfrm>
            <a:off x="548640" y="1856232"/>
            <a:ext cx="2514600" cy="685800"/>
          </a:xfrm>
          <a:prstGeom prst="rect">
            <a:avLst/>
          </a:prstGeom>
          <a:noFill/>
          <a:ln/>
        </p:spPr>
        <p:txBody>
          <a:bodyPr wrap="square" lIns="0" tIns="0" rIns="0" bIns="0" rtlCol="0" anchor="ctr"/>
          <a:lstStyle/>
          <a:p>
            <a:pPr algn="ctr" indent="0" marL="0">
              <a:buNone/>
            </a:pPr>
            <a:r>
              <a:rPr lang="en-US" sz="3400" b="1" dirty="0">
                <a:solidFill>
                  <a:srgbClr val="1C7293"/>
                </a:solidFill>
                <a:latin typeface="Calibri" pitchFamily="34" charset="0"/>
                <a:ea typeface="Calibri" pitchFamily="34" charset="-122"/>
                <a:cs typeface="Calibri" pitchFamily="34" charset="-120"/>
              </a:rPr>
              <a:t>1000</a:t>
            </a:r>
            <a:endParaRPr lang="en-US" sz="3400" dirty="0"/>
          </a:p>
        </p:txBody>
      </p:sp>
      <p:sp>
        <p:nvSpPr>
          <p:cNvPr id="8" name="Text 6"/>
          <p:cNvSpPr/>
          <p:nvPr/>
        </p:nvSpPr>
        <p:spPr>
          <a:xfrm>
            <a:off x="548640" y="2560320"/>
            <a:ext cx="2514600" cy="365760"/>
          </a:xfrm>
          <a:prstGeom prst="rect">
            <a:avLst/>
          </a:prstGeom>
          <a:noFill/>
          <a:ln/>
        </p:spPr>
        <p:txBody>
          <a:bodyPr wrap="square" lIns="0" tIns="0" rIns="0" bIns="0" rtlCol="0" anchor="ctr"/>
          <a:lstStyle/>
          <a:p>
            <a:pPr algn="ctr" indent="0" marL="0">
              <a:buNone/>
            </a:pPr>
            <a:r>
              <a:rPr lang="en-US" sz="1150" dirty="0">
                <a:solidFill>
                  <a:srgbClr val="5B6B79"/>
                </a:solidFill>
                <a:latin typeface="Calibri" pitchFamily="34" charset="0"/>
                <a:ea typeface="Calibri" pitchFamily="34" charset="-122"/>
                <a:cs typeface="Calibri" pitchFamily="34" charset="-120"/>
              </a:rPr>
              <a:t>Baris Data</a:t>
            </a:r>
            <a:endParaRPr lang="en-US" sz="1150" dirty="0"/>
          </a:p>
        </p:txBody>
      </p:sp>
      <p:sp>
        <p:nvSpPr>
          <p:cNvPr id="9" name="Shape 7"/>
          <p:cNvSpPr/>
          <p:nvPr/>
        </p:nvSpPr>
        <p:spPr>
          <a:xfrm>
            <a:off x="3291840" y="1691640"/>
            <a:ext cx="2514600" cy="1371600"/>
          </a:xfrm>
          <a:prstGeom prst="roundRect">
            <a:avLst>
              <a:gd name="adj" fmla="val 5333"/>
            </a:avLst>
          </a:prstGeom>
          <a:solidFill>
            <a:srgbClr val="FFFFFF"/>
          </a:solidFill>
          <a:ln/>
          <a:effectLst>
            <a:outerShdw sx="100000" sy="100000" kx="0" ky="0" algn="bl" rotWithShape="0" blurRad="101600" dist="38100" dir="5400000">
              <a:srgbClr val="000000">
                <a:alpha val="10000"/>
              </a:srgbClr>
            </a:outerShdw>
          </a:effectLst>
        </p:spPr>
      </p:sp>
      <p:sp>
        <p:nvSpPr>
          <p:cNvPr id="10" name="Text 8"/>
          <p:cNvSpPr/>
          <p:nvPr/>
        </p:nvSpPr>
        <p:spPr>
          <a:xfrm>
            <a:off x="3291840" y="1856232"/>
            <a:ext cx="2514600" cy="685800"/>
          </a:xfrm>
          <a:prstGeom prst="rect">
            <a:avLst/>
          </a:prstGeom>
          <a:noFill/>
          <a:ln/>
        </p:spPr>
        <p:txBody>
          <a:bodyPr wrap="square" lIns="0" tIns="0" rIns="0" bIns="0" rtlCol="0" anchor="ctr"/>
          <a:lstStyle/>
          <a:p>
            <a:pPr algn="ctr" indent="0" marL="0">
              <a:buNone/>
            </a:pPr>
            <a:r>
              <a:rPr lang="en-US" sz="3400" b="1" dirty="0">
                <a:solidFill>
                  <a:srgbClr val="1C7293"/>
                </a:solidFill>
                <a:latin typeface="Calibri" pitchFamily="34" charset="0"/>
                <a:ea typeface="Calibri" pitchFamily="34" charset="-122"/>
                <a:cs typeface="Calibri" pitchFamily="34" charset="-120"/>
              </a:rPr>
              <a:t>8</a:t>
            </a:r>
            <a:endParaRPr lang="en-US" sz="3400" dirty="0"/>
          </a:p>
        </p:txBody>
      </p:sp>
      <p:sp>
        <p:nvSpPr>
          <p:cNvPr id="11" name="Text 9"/>
          <p:cNvSpPr/>
          <p:nvPr/>
        </p:nvSpPr>
        <p:spPr>
          <a:xfrm>
            <a:off x="3291840" y="2560320"/>
            <a:ext cx="2514600" cy="365760"/>
          </a:xfrm>
          <a:prstGeom prst="rect">
            <a:avLst/>
          </a:prstGeom>
          <a:noFill/>
          <a:ln/>
        </p:spPr>
        <p:txBody>
          <a:bodyPr wrap="square" lIns="0" tIns="0" rIns="0" bIns="0" rtlCol="0" anchor="ctr"/>
          <a:lstStyle/>
          <a:p>
            <a:pPr algn="ctr" indent="0" marL="0">
              <a:buNone/>
            </a:pPr>
            <a:r>
              <a:rPr lang="en-US" sz="1150" dirty="0">
                <a:solidFill>
                  <a:srgbClr val="5B6B79"/>
                </a:solidFill>
                <a:latin typeface="Calibri" pitchFamily="34" charset="0"/>
                <a:ea typeface="Calibri" pitchFamily="34" charset="-122"/>
                <a:cs typeface="Calibri" pitchFamily="34" charset="-120"/>
              </a:rPr>
              <a:t>Kolom / Variabel</a:t>
            </a:r>
            <a:endParaRPr lang="en-US" sz="1150" dirty="0"/>
          </a:p>
        </p:txBody>
      </p:sp>
      <p:sp>
        <p:nvSpPr>
          <p:cNvPr id="12" name="Shape 10"/>
          <p:cNvSpPr/>
          <p:nvPr/>
        </p:nvSpPr>
        <p:spPr>
          <a:xfrm>
            <a:off x="6035040" y="1691640"/>
            <a:ext cx="2514600" cy="1371600"/>
          </a:xfrm>
          <a:prstGeom prst="roundRect">
            <a:avLst>
              <a:gd name="adj" fmla="val 5333"/>
            </a:avLst>
          </a:prstGeom>
          <a:solidFill>
            <a:srgbClr val="FFFFFF"/>
          </a:solidFill>
          <a:ln/>
          <a:effectLst>
            <a:outerShdw sx="100000" sy="100000" kx="0" ky="0" algn="bl" rotWithShape="0" blurRad="101600" dist="38100" dir="5400000">
              <a:srgbClr val="000000">
                <a:alpha val="10000"/>
              </a:srgbClr>
            </a:outerShdw>
          </a:effectLst>
        </p:spPr>
      </p:sp>
      <p:sp>
        <p:nvSpPr>
          <p:cNvPr id="13" name="Text 11"/>
          <p:cNvSpPr/>
          <p:nvPr/>
        </p:nvSpPr>
        <p:spPr>
          <a:xfrm>
            <a:off x="6035040" y="1856232"/>
            <a:ext cx="2514600" cy="685800"/>
          </a:xfrm>
          <a:prstGeom prst="rect">
            <a:avLst/>
          </a:prstGeom>
          <a:noFill/>
          <a:ln/>
        </p:spPr>
        <p:txBody>
          <a:bodyPr wrap="square" lIns="0" tIns="0" rIns="0" bIns="0" rtlCol="0" anchor="ctr"/>
          <a:lstStyle/>
          <a:p>
            <a:pPr algn="ctr" indent="0" marL="0">
              <a:buNone/>
            </a:pPr>
            <a:r>
              <a:rPr lang="en-US" sz="3400" b="1" dirty="0">
                <a:solidFill>
                  <a:srgbClr val="1C7293"/>
                </a:solidFill>
                <a:latin typeface="Calibri" pitchFamily="34" charset="0"/>
                <a:ea typeface="Calibri" pitchFamily="34" charset="-122"/>
                <a:cs typeface="Calibri" pitchFamily="34" charset="-120"/>
              </a:rPr>
              <a:t>0</a:t>
            </a:r>
            <a:endParaRPr lang="en-US" sz="3400" dirty="0"/>
          </a:p>
        </p:txBody>
      </p:sp>
      <p:sp>
        <p:nvSpPr>
          <p:cNvPr id="14" name="Text 12"/>
          <p:cNvSpPr/>
          <p:nvPr/>
        </p:nvSpPr>
        <p:spPr>
          <a:xfrm>
            <a:off x="6035040" y="2560320"/>
            <a:ext cx="2514600" cy="365760"/>
          </a:xfrm>
          <a:prstGeom prst="rect">
            <a:avLst/>
          </a:prstGeom>
          <a:noFill/>
          <a:ln/>
        </p:spPr>
        <p:txBody>
          <a:bodyPr wrap="square" lIns="0" tIns="0" rIns="0" bIns="0" rtlCol="0" anchor="ctr"/>
          <a:lstStyle/>
          <a:p>
            <a:pPr algn="ctr" indent="0" marL="0">
              <a:buNone/>
            </a:pPr>
            <a:r>
              <a:rPr lang="en-US" sz="1150" dirty="0">
                <a:solidFill>
                  <a:srgbClr val="5B6B79"/>
                </a:solidFill>
                <a:latin typeface="Calibri" pitchFamily="34" charset="0"/>
                <a:ea typeface="Calibri" pitchFamily="34" charset="-122"/>
                <a:cs typeface="Calibri" pitchFamily="34" charset="-120"/>
              </a:rPr>
              <a:t>Missing Value</a:t>
            </a:r>
            <a:endParaRPr lang="en-US" sz="1150" dirty="0"/>
          </a:p>
        </p:txBody>
      </p:sp>
      <p:sp>
        <p:nvSpPr>
          <p:cNvPr id="15" name="Shape 13"/>
          <p:cNvSpPr/>
          <p:nvPr/>
        </p:nvSpPr>
        <p:spPr>
          <a:xfrm>
            <a:off x="8778240" y="1691640"/>
            <a:ext cx="2514600" cy="1371600"/>
          </a:xfrm>
          <a:prstGeom prst="roundRect">
            <a:avLst>
              <a:gd name="adj" fmla="val 5333"/>
            </a:avLst>
          </a:prstGeom>
          <a:solidFill>
            <a:srgbClr val="FFFFFF"/>
          </a:solidFill>
          <a:ln/>
          <a:effectLst>
            <a:outerShdw sx="100000" sy="100000" kx="0" ky="0" algn="bl" rotWithShape="0" blurRad="101600" dist="38100" dir="5400000">
              <a:srgbClr val="000000">
                <a:alpha val="10000"/>
              </a:srgbClr>
            </a:outerShdw>
          </a:effectLst>
        </p:spPr>
      </p:sp>
      <p:sp>
        <p:nvSpPr>
          <p:cNvPr id="16" name="Text 14"/>
          <p:cNvSpPr/>
          <p:nvPr/>
        </p:nvSpPr>
        <p:spPr>
          <a:xfrm>
            <a:off x="8778240" y="1856232"/>
            <a:ext cx="2514600" cy="685800"/>
          </a:xfrm>
          <a:prstGeom prst="rect">
            <a:avLst/>
          </a:prstGeom>
          <a:noFill/>
          <a:ln/>
        </p:spPr>
        <p:txBody>
          <a:bodyPr wrap="square" lIns="0" tIns="0" rIns="0" bIns="0" rtlCol="0" anchor="ctr"/>
          <a:lstStyle/>
          <a:p>
            <a:pPr algn="ctr" indent="0" marL="0">
              <a:buNone/>
            </a:pPr>
            <a:r>
              <a:rPr lang="en-US" sz="3400" b="1" dirty="0">
                <a:solidFill>
                  <a:srgbClr val="1C7293"/>
                </a:solidFill>
                <a:latin typeface="Calibri" pitchFamily="34" charset="0"/>
                <a:ea typeface="Calibri" pitchFamily="34" charset="-122"/>
                <a:cs typeface="Calibri" pitchFamily="34" charset="-120"/>
              </a:rPr>
              <a:t>0</a:t>
            </a:r>
            <a:endParaRPr lang="en-US" sz="3400" dirty="0"/>
          </a:p>
        </p:txBody>
      </p:sp>
      <p:sp>
        <p:nvSpPr>
          <p:cNvPr id="17" name="Text 15"/>
          <p:cNvSpPr/>
          <p:nvPr/>
        </p:nvSpPr>
        <p:spPr>
          <a:xfrm>
            <a:off x="8778240" y="2560320"/>
            <a:ext cx="2514600" cy="365760"/>
          </a:xfrm>
          <a:prstGeom prst="rect">
            <a:avLst/>
          </a:prstGeom>
          <a:noFill/>
          <a:ln/>
        </p:spPr>
        <p:txBody>
          <a:bodyPr wrap="square" lIns="0" tIns="0" rIns="0" bIns="0" rtlCol="0" anchor="ctr"/>
          <a:lstStyle/>
          <a:p>
            <a:pPr algn="ctr" indent="0" marL="0">
              <a:buNone/>
            </a:pPr>
            <a:r>
              <a:rPr lang="en-US" sz="1150" dirty="0">
                <a:solidFill>
                  <a:srgbClr val="5B6B79"/>
                </a:solidFill>
                <a:latin typeface="Calibri" pitchFamily="34" charset="0"/>
                <a:ea typeface="Calibri" pitchFamily="34" charset="-122"/>
                <a:cs typeface="Calibri" pitchFamily="34" charset="-120"/>
              </a:rPr>
              <a:t>Data Duplikat</a:t>
            </a:r>
            <a:endParaRPr lang="en-US" sz="1150" dirty="0"/>
          </a:p>
        </p:txBody>
      </p:sp>
      <p:sp>
        <p:nvSpPr>
          <p:cNvPr id="18" name="Text 16"/>
          <p:cNvSpPr/>
          <p:nvPr/>
        </p:nvSpPr>
        <p:spPr>
          <a:xfrm>
            <a:off x="548640" y="3337560"/>
            <a:ext cx="5120640" cy="32004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Kolom Numerik</a:t>
            </a:r>
            <a:endParaRPr lang="en-US" sz="1300" dirty="0"/>
          </a:p>
        </p:txBody>
      </p:sp>
      <p:sp>
        <p:nvSpPr>
          <p:cNvPr id="19" name="Text 17"/>
          <p:cNvSpPr/>
          <p:nvPr/>
        </p:nvSpPr>
        <p:spPr>
          <a:xfrm>
            <a:off x="548640" y="3657600"/>
            <a:ext cx="5120640" cy="457200"/>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math score  •  reading score  •  writing score</a:t>
            </a:r>
            <a:endParaRPr lang="en-US" sz="1200" dirty="0"/>
          </a:p>
        </p:txBody>
      </p:sp>
      <p:sp>
        <p:nvSpPr>
          <p:cNvPr id="20" name="Text 18"/>
          <p:cNvSpPr/>
          <p:nvPr/>
        </p:nvSpPr>
        <p:spPr>
          <a:xfrm>
            <a:off x="548640" y="4160520"/>
            <a:ext cx="5120640" cy="32004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Kolom Kategorikal</a:t>
            </a:r>
            <a:endParaRPr lang="en-US" sz="1300" dirty="0"/>
          </a:p>
        </p:txBody>
      </p:sp>
      <p:sp>
        <p:nvSpPr>
          <p:cNvPr id="21" name="Text 19"/>
          <p:cNvSpPr/>
          <p:nvPr/>
        </p:nvSpPr>
        <p:spPr>
          <a:xfrm>
            <a:off x="548640" y="4480560"/>
            <a:ext cx="5120640" cy="822960"/>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gender  •  race/ethnicity  •  parental level of education  •  lunch  •  test preparation course</a:t>
            </a:r>
            <a:endParaRPr lang="en-US" sz="1200" dirty="0"/>
          </a:p>
        </p:txBody>
      </p:sp>
      <p:pic>
        <p:nvPicPr>
          <p:cNvPr id="22" name="Image 0" descr="images/info.png">    </p:cNvPr>
          <p:cNvPicPr>
            <a:picLocks noChangeAspect="1"/>
          </p:cNvPicPr>
          <p:nvPr/>
        </p:nvPicPr>
        <p:blipFill>
          <a:blip r:embed="rId1"/>
          <a:stretch>
            <a:fillRect/>
          </a:stretch>
        </p:blipFill>
        <p:spPr>
          <a:xfrm>
            <a:off x="6522415" y="1691640"/>
            <a:ext cx="5120640" cy="2754325"/>
          </a:xfrm>
          <a:prstGeom prst="rect">
            <a:avLst/>
          </a:prstGeom>
          <a:effectLst>
            <a:outerShdw sx="100000" sy="100000" kx="0" ky="0" algn="bl" rotWithShape="0" blurRad="101600" dist="38100" dir="5400000">
              <a:srgbClr val="000000">
                <a:alpha val="15000"/>
              </a:srgbClr>
            </a:outerShdw>
          </a:effectLst>
        </p:spPr>
      </p:pic>
      <p:sp>
        <p:nvSpPr>
          <p:cNvPr id="23" name="Text 20"/>
          <p:cNvSpPr/>
          <p:nvPr/>
        </p:nvSpPr>
        <p:spPr>
          <a:xfrm>
            <a:off x="6522415" y="4491685"/>
            <a:ext cx="5120640" cy="274320"/>
          </a:xfrm>
          <a:prstGeom prst="rect">
            <a:avLst/>
          </a:prstGeom>
          <a:noFill/>
          <a:ln/>
        </p:spPr>
        <p:txBody>
          <a:bodyPr wrap="square" lIns="0" tIns="0" rIns="0" bIns="0" rtlCol="0" anchor="ctr"/>
          <a:lstStyle/>
          <a:p>
            <a:pPr algn="ctr" indent="0" marL="0">
              <a:buNone/>
            </a:pPr>
            <a:r>
              <a:rPr lang="en-US" sz="1000" i="1" dirty="0">
                <a:solidFill>
                  <a:srgbClr val="5B6B79"/>
                </a:solidFill>
                <a:latin typeface="Calibri" pitchFamily="34" charset="0"/>
                <a:ea typeface="Calibri" pitchFamily="34" charset="-122"/>
                <a:cs typeface="Calibri" pitchFamily="34" charset="-120"/>
              </a:rPr>
              <a:t>df.info()</a:t>
            </a:r>
            <a:endParaRPr lang="en-US" sz="1000" dirty="0"/>
          </a:p>
        </p:txBody>
      </p:sp>
      <p:sp>
        <p:nvSpPr>
          <p:cNvPr id="24" name="Text 21"/>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Students Performance in Exams — Dataset Summary</a:t>
            </a:r>
            <a:endParaRPr lang="en-US" sz="900" dirty="0"/>
          </a:p>
        </p:txBody>
      </p:sp>
      <p:sp>
        <p:nvSpPr>
          <p:cNvPr id="25" name="Text 22"/>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C7293"/>
          </a:solidFill>
          <a:ln/>
        </p:spPr>
      </p:sp>
      <p:sp>
        <p:nvSpPr>
          <p:cNvPr id="3" name="Text 1"/>
          <p:cNvSpPr/>
          <p:nvPr/>
        </p:nvSpPr>
        <p:spPr>
          <a:xfrm>
            <a:off x="548640" y="502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4" name="Text 2"/>
          <p:cNvSpPr/>
          <p:nvPr/>
        </p:nvSpPr>
        <p:spPr>
          <a:xfrm>
            <a:off x="1143000" y="502920"/>
            <a:ext cx="7315200" cy="457200"/>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SCREENSHOT DATASET</a:t>
            </a:r>
            <a:endParaRPr lang="en-US" sz="1300" dirty="0"/>
          </a:p>
        </p:txBody>
      </p:sp>
      <p:sp>
        <p:nvSpPr>
          <p:cNvPr id="5" name="Text 3"/>
          <p:cNvSpPr/>
          <p:nvPr/>
        </p:nvSpPr>
        <p:spPr>
          <a:xfrm>
            <a:off x="548640" y="1051560"/>
            <a:ext cx="9144000" cy="45720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Tampilan Data: head() &amp; tail()</a:t>
            </a:r>
            <a:endParaRPr lang="en-US" sz="2200" dirty="0"/>
          </a:p>
        </p:txBody>
      </p:sp>
      <p:sp>
        <p:nvSpPr>
          <p:cNvPr id="6" name="Text 4"/>
          <p:cNvSpPr/>
          <p:nvPr/>
        </p:nvSpPr>
        <p:spPr>
          <a:xfrm>
            <a:off x="548640" y="1691640"/>
            <a:ext cx="5486400" cy="27432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df.head()  —  5 baris pertama</a:t>
            </a:r>
            <a:endParaRPr lang="en-US" sz="1200" dirty="0"/>
          </a:p>
        </p:txBody>
      </p:sp>
      <p:pic>
        <p:nvPicPr>
          <p:cNvPr id="7" name="Image 0" descr="images/head.png">    </p:cNvPr>
          <p:cNvPicPr>
            <a:picLocks noChangeAspect="1"/>
          </p:cNvPicPr>
          <p:nvPr/>
        </p:nvPicPr>
        <p:blipFill>
          <a:blip r:embed="rId1"/>
          <a:stretch>
            <a:fillRect/>
          </a:stretch>
        </p:blipFill>
        <p:spPr>
          <a:xfrm>
            <a:off x="1273639" y="2011680"/>
            <a:ext cx="9644418" cy="2286000"/>
          </a:xfrm>
          <a:prstGeom prst="rect">
            <a:avLst/>
          </a:prstGeom>
          <a:effectLst>
            <a:outerShdw sx="100000" sy="100000" kx="0" ky="0" algn="bl" rotWithShape="0" blurRad="101600" dist="38100" dir="5400000">
              <a:srgbClr val="000000">
                <a:alpha val="12000"/>
              </a:srgbClr>
            </a:outerShdw>
          </a:effectLst>
        </p:spPr>
      </p:pic>
      <p:sp>
        <p:nvSpPr>
          <p:cNvPr id="8" name="Text 5"/>
          <p:cNvSpPr/>
          <p:nvPr/>
        </p:nvSpPr>
        <p:spPr>
          <a:xfrm>
            <a:off x="548640" y="4343400"/>
            <a:ext cx="5486400" cy="27432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df.tail()  —  5 baris terakhir</a:t>
            </a:r>
            <a:endParaRPr lang="en-US" sz="1200" dirty="0"/>
          </a:p>
        </p:txBody>
      </p:sp>
      <p:pic>
        <p:nvPicPr>
          <p:cNvPr id="9" name="Image 1" descr="images/tail.png">    </p:cNvPr>
          <p:cNvPicPr>
            <a:picLocks noChangeAspect="1"/>
          </p:cNvPicPr>
          <p:nvPr/>
        </p:nvPicPr>
        <p:blipFill>
          <a:blip r:embed="rId2"/>
          <a:stretch>
            <a:fillRect/>
          </a:stretch>
        </p:blipFill>
        <p:spPr>
          <a:xfrm>
            <a:off x="1204268" y="4663440"/>
            <a:ext cx="9783159" cy="2286000"/>
          </a:xfrm>
          <a:prstGeom prst="rect">
            <a:avLst/>
          </a:prstGeom>
          <a:effectLst>
            <a:outerShdw sx="100000" sy="100000" kx="0" ky="0" algn="bl" rotWithShape="0" blurRad="101600" dist="38100" dir="5400000">
              <a:srgbClr val="000000">
                <a:alpha val="12000"/>
              </a:srgbClr>
            </a:outerShdw>
          </a:effectLst>
        </p:spPr>
      </p:pic>
      <p:sp>
        <p:nvSpPr>
          <p:cNvPr id="10" name="Text 6"/>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Students Performance in Exams — Dataset Summary</a:t>
            </a:r>
            <a:endParaRPr lang="en-US" sz="900" dirty="0"/>
          </a:p>
        </p:txBody>
      </p:sp>
      <p:sp>
        <p:nvSpPr>
          <p:cNvPr id="11" name="Text 7"/>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C7293"/>
          </a:solidFill>
          <a:ln/>
        </p:spPr>
      </p:sp>
      <p:sp>
        <p:nvSpPr>
          <p:cNvPr id="3" name="Text 1"/>
          <p:cNvSpPr/>
          <p:nvPr/>
        </p:nvSpPr>
        <p:spPr>
          <a:xfrm>
            <a:off x="548640" y="502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4" name="Text 2"/>
          <p:cNvSpPr/>
          <p:nvPr/>
        </p:nvSpPr>
        <p:spPr>
          <a:xfrm>
            <a:off x="1143000" y="502920"/>
            <a:ext cx="7315200" cy="457200"/>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STATISTIK DASAR</a:t>
            </a:r>
            <a:endParaRPr lang="en-US" sz="1300" dirty="0"/>
          </a:p>
        </p:txBody>
      </p:sp>
      <p:sp>
        <p:nvSpPr>
          <p:cNvPr id="5" name="Text 3"/>
          <p:cNvSpPr/>
          <p:nvPr/>
        </p:nvSpPr>
        <p:spPr>
          <a:xfrm>
            <a:off x="548640" y="1051560"/>
            <a:ext cx="9144000" cy="45720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Statistik Deskriptif — df.describe()</a:t>
            </a:r>
            <a:endParaRPr lang="en-US" sz="2200" dirty="0"/>
          </a:p>
        </p:txBody>
      </p:sp>
      <p:pic>
        <p:nvPicPr>
          <p:cNvPr id="6" name="Image 0" descr="images/describe.png">    </p:cNvPr>
          <p:cNvPicPr>
            <a:picLocks noChangeAspect="1"/>
          </p:cNvPicPr>
          <p:nvPr/>
        </p:nvPicPr>
        <p:blipFill>
          <a:blip r:embed="rId1"/>
          <a:stretch>
            <a:fillRect/>
          </a:stretch>
        </p:blipFill>
        <p:spPr>
          <a:xfrm>
            <a:off x="548640" y="1737360"/>
            <a:ext cx="5760720" cy="3833066"/>
          </a:xfrm>
          <a:prstGeom prst="rect">
            <a:avLst/>
          </a:prstGeom>
          <a:effectLst>
            <a:outerShdw sx="100000" sy="100000" kx="0" ky="0" algn="bl" rotWithShape="0" blurRad="101600" dist="38100" dir="5400000">
              <a:srgbClr val="000000">
                <a:alpha val="12000"/>
              </a:srgbClr>
            </a:outerShdw>
          </a:effectLst>
        </p:spPr>
      </p:pic>
      <p:sp>
        <p:nvSpPr>
          <p:cNvPr id="7" name="Text 4"/>
          <p:cNvSpPr/>
          <p:nvPr/>
        </p:nvSpPr>
        <p:spPr>
          <a:xfrm>
            <a:off x="6675120" y="1737360"/>
            <a:ext cx="4937760" cy="32004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Insight:</a:t>
            </a:r>
            <a:endParaRPr lang="en-US" sz="1300" dirty="0"/>
          </a:p>
        </p:txBody>
      </p:sp>
      <p:sp>
        <p:nvSpPr>
          <p:cNvPr id="8" name="Text 5"/>
          <p:cNvSpPr/>
          <p:nvPr/>
        </p:nvSpPr>
        <p:spPr>
          <a:xfrm>
            <a:off x="6675120" y="2148840"/>
            <a:ext cx="4937760" cy="3108960"/>
          </a:xfrm>
          <a:prstGeom prst="rect">
            <a:avLst/>
          </a:prstGeom>
          <a:noFill/>
          <a:ln/>
        </p:spPr>
        <p:txBody>
          <a:bodyPr wrap="square" lIns="0" tIns="0" rIns="0" bIns="0" rtlCol="0" anchor="ctr"/>
          <a:lstStyle/>
          <a:p>
            <a:pPr marL="342900" indent="-342900">
              <a:lnSpc>
                <a:spcPct val="135000"/>
              </a:lnSpc>
              <a:spcAft>
                <a:spcPts val="1000"/>
              </a:spcAft>
              <a:buSzPct val="100000"/>
              <a:buChar char="•"/>
            </a:pPr>
            <a:r>
              <a:rPr lang="en-US" sz="1250" dirty="0">
                <a:solidFill>
                  <a:srgbClr val="5B6B79"/>
                </a:solidFill>
                <a:latin typeface="Calibri" pitchFamily="34" charset="0"/>
                <a:ea typeface="Calibri" pitchFamily="34" charset="-122"/>
                <a:cs typeface="Calibri" pitchFamily="34" charset="-120"/>
              </a:rPr>
              <a:t>Rata-rata reading score (69.2) sedikit lebih tinggi dari writing (68.1) dan math (66.1)</a:t>
            </a:r>
            <a:endParaRPr lang="en-US" sz="1250" dirty="0"/>
          </a:p>
          <a:p>
            <a:pPr marL="342900" indent="-342900">
              <a:lnSpc>
                <a:spcPct val="135000"/>
              </a:lnSpc>
              <a:spcAft>
                <a:spcPts val="1000"/>
              </a:spcAft>
              <a:buSzPct val="100000"/>
              <a:buChar char="•"/>
            </a:pPr>
            <a:r>
              <a:rPr lang="en-US" sz="1250" dirty="0">
                <a:solidFill>
                  <a:srgbClr val="5B6B79"/>
                </a:solidFill>
                <a:latin typeface="Calibri" pitchFamily="34" charset="0"/>
                <a:ea typeface="Calibri" pitchFamily="34" charset="-122"/>
                <a:cs typeface="Calibri" pitchFamily="34" charset="-120"/>
              </a:rPr>
              <a:t>Standar deviasi berkisar 14–15 poin di ketiga nilai — variasi performa antar siswa cukup lebar</a:t>
            </a:r>
            <a:endParaRPr lang="en-US" sz="1250" dirty="0"/>
          </a:p>
          <a:p>
            <a:pPr marL="342900" indent="-342900">
              <a:lnSpc>
                <a:spcPct val="135000"/>
              </a:lnSpc>
              <a:spcAft>
                <a:spcPts val="1000"/>
              </a:spcAft>
              <a:buSzPct val="100000"/>
              <a:buChar char="•"/>
            </a:pPr>
            <a:r>
              <a:rPr lang="en-US" sz="1250" dirty="0">
                <a:solidFill>
                  <a:srgbClr val="5B6B79"/>
                </a:solidFill>
                <a:latin typeface="Calibri" pitchFamily="34" charset="0"/>
                <a:ea typeface="Calibri" pitchFamily="34" charset="-122"/>
                <a:cs typeface="Calibri" pitchFamily="34" charset="-120"/>
              </a:rPr>
              <a:t>Nilai minimum math score = 0, mengindikasikan kemungkinan outlier atau data ekstrem</a:t>
            </a:r>
            <a:endParaRPr lang="en-US" sz="1250" dirty="0"/>
          </a:p>
          <a:p>
            <a:pPr marL="342900" indent="-342900">
              <a:lnSpc>
                <a:spcPct val="135000"/>
              </a:lnSpc>
              <a:spcAft>
                <a:spcPts val="1000"/>
              </a:spcAft>
              <a:buSzPct val="100000"/>
              <a:buChar char="•"/>
            </a:pPr>
            <a:r>
              <a:rPr lang="en-US" sz="1250" dirty="0">
                <a:solidFill>
                  <a:srgbClr val="5B6B79"/>
                </a:solidFill>
                <a:latin typeface="Calibri" pitchFamily="34" charset="0"/>
                <a:ea typeface="Calibri" pitchFamily="34" charset="-122"/>
                <a:cs typeface="Calibri" pitchFamily="34" charset="-120"/>
              </a:rPr>
              <a:t>Nilai maksimum ketiga variabel = 100 (skor sempurna tercapai)</a:t>
            </a:r>
            <a:endParaRPr lang="en-US" sz="1250" dirty="0"/>
          </a:p>
        </p:txBody>
      </p:sp>
      <p:sp>
        <p:nvSpPr>
          <p:cNvPr id="9" name="Text 6"/>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Students Performance in Exams — Dataset Summary</a:t>
            </a:r>
            <a:endParaRPr lang="en-US" sz="900" dirty="0"/>
          </a:p>
        </p:txBody>
      </p:sp>
      <p:sp>
        <p:nvSpPr>
          <p:cNvPr id="10" name="Text 7"/>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C7293"/>
          </a:solidFill>
          <a:ln/>
        </p:spPr>
      </p:sp>
      <p:sp>
        <p:nvSpPr>
          <p:cNvPr id="3" name="Text 1"/>
          <p:cNvSpPr/>
          <p:nvPr/>
        </p:nvSpPr>
        <p:spPr>
          <a:xfrm>
            <a:off x="548640" y="502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4" name="Text 2"/>
          <p:cNvSpPr/>
          <p:nvPr/>
        </p:nvSpPr>
        <p:spPr>
          <a:xfrm>
            <a:off x="1143000" y="502920"/>
            <a:ext cx="7315200" cy="457200"/>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MISSING VALUE &amp; DATA UNIK</a:t>
            </a:r>
            <a:endParaRPr lang="en-US" sz="1300" dirty="0"/>
          </a:p>
        </p:txBody>
      </p:sp>
      <p:sp>
        <p:nvSpPr>
          <p:cNvPr id="5" name="Text 3"/>
          <p:cNvSpPr/>
          <p:nvPr/>
        </p:nvSpPr>
        <p:spPr>
          <a:xfrm>
            <a:off x="548640" y="1051560"/>
            <a:ext cx="9144000" cy="45720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Kelengkapan Data &amp; Nilai Unik</a:t>
            </a:r>
            <a:endParaRPr lang="en-US" sz="2200" dirty="0"/>
          </a:p>
        </p:txBody>
      </p:sp>
      <p:sp>
        <p:nvSpPr>
          <p:cNvPr id="6" name="Text 4"/>
          <p:cNvSpPr/>
          <p:nvPr/>
        </p:nvSpPr>
        <p:spPr>
          <a:xfrm>
            <a:off x="548640" y="1691640"/>
            <a:ext cx="3383280" cy="27432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df.isnull().sum()</a:t>
            </a:r>
            <a:endParaRPr lang="en-US" sz="1200" dirty="0"/>
          </a:p>
        </p:txBody>
      </p:sp>
      <p:pic>
        <p:nvPicPr>
          <p:cNvPr id="7" name="Image 0" descr="images/isnull.png">    </p:cNvPr>
          <p:cNvPicPr>
            <a:picLocks noChangeAspect="1"/>
          </p:cNvPicPr>
          <p:nvPr/>
        </p:nvPicPr>
        <p:blipFill>
          <a:blip r:embed="rId1"/>
          <a:stretch>
            <a:fillRect/>
          </a:stretch>
        </p:blipFill>
        <p:spPr>
          <a:xfrm>
            <a:off x="548640" y="2011680"/>
            <a:ext cx="3383280" cy="2736980"/>
          </a:xfrm>
          <a:prstGeom prst="rect">
            <a:avLst/>
          </a:prstGeom>
          <a:effectLst>
            <a:outerShdw sx="100000" sy="100000" kx="0" ky="0" algn="bl" rotWithShape="0" blurRad="101600" dist="38100" dir="5400000">
              <a:srgbClr val="000000">
                <a:alpha val="12000"/>
              </a:srgbClr>
            </a:outerShdw>
          </a:effectLst>
        </p:spPr>
      </p:pic>
      <p:sp>
        <p:nvSpPr>
          <p:cNvPr id="8" name="Text 5"/>
          <p:cNvSpPr/>
          <p:nvPr/>
        </p:nvSpPr>
        <p:spPr>
          <a:xfrm>
            <a:off x="4297680" y="1691640"/>
            <a:ext cx="5486400" cy="27432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df.nunique()</a:t>
            </a:r>
            <a:endParaRPr lang="en-US" sz="1200" dirty="0"/>
          </a:p>
        </p:txBody>
      </p:sp>
      <p:pic>
        <p:nvPicPr>
          <p:cNvPr id="9" name="Image 1" descr="images/nunique.png">    </p:cNvPr>
          <p:cNvPicPr>
            <a:picLocks noChangeAspect="1"/>
          </p:cNvPicPr>
          <p:nvPr/>
        </p:nvPicPr>
        <p:blipFill>
          <a:blip r:embed="rId2"/>
          <a:stretch>
            <a:fillRect/>
          </a:stretch>
        </p:blipFill>
        <p:spPr>
          <a:xfrm>
            <a:off x="4297680" y="2011680"/>
            <a:ext cx="7589520" cy="1130164"/>
          </a:xfrm>
          <a:prstGeom prst="rect">
            <a:avLst/>
          </a:prstGeom>
          <a:effectLst>
            <a:outerShdw sx="100000" sy="100000" kx="0" ky="0" algn="bl" rotWithShape="0" blurRad="101600" dist="38100" dir="5400000">
              <a:srgbClr val="000000">
                <a:alpha val="12000"/>
              </a:srgbClr>
            </a:outerShdw>
          </a:effectLst>
        </p:spPr>
      </p:pic>
      <p:sp>
        <p:nvSpPr>
          <p:cNvPr id="10" name="Shape 6"/>
          <p:cNvSpPr/>
          <p:nvPr/>
        </p:nvSpPr>
        <p:spPr>
          <a:xfrm>
            <a:off x="4297680" y="4206240"/>
            <a:ext cx="6949440" cy="1417320"/>
          </a:xfrm>
          <a:prstGeom prst="roundRect">
            <a:avLst>
              <a:gd name="adj" fmla="val 5161"/>
            </a:avLst>
          </a:prstGeom>
          <a:solidFill>
            <a:srgbClr val="E9F5F0"/>
          </a:solidFill>
          <a:ln/>
        </p:spPr>
      </p:sp>
      <p:sp>
        <p:nvSpPr>
          <p:cNvPr id="11" name="Text 7"/>
          <p:cNvSpPr/>
          <p:nvPr/>
        </p:nvSpPr>
        <p:spPr>
          <a:xfrm>
            <a:off x="4572000" y="4343400"/>
            <a:ext cx="6400800" cy="27432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Kesimpulan</a:t>
            </a:r>
            <a:endParaRPr lang="en-US" sz="1250" dirty="0"/>
          </a:p>
        </p:txBody>
      </p:sp>
      <p:sp>
        <p:nvSpPr>
          <p:cNvPr id="12" name="Text 8"/>
          <p:cNvSpPr/>
          <p:nvPr/>
        </p:nvSpPr>
        <p:spPr>
          <a:xfrm>
            <a:off x="4572000" y="4617720"/>
            <a:ext cx="6400800" cy="914400"/>
          </a:xfrm>
          <a:prstGeom prst="rect">
            <a:avLst/>
          </a:prstGeom>
          <a:noFill/>
          <a:ln/>
        </p:spPr>
        <p:txBody>
          <a:bodyPr wrap="square" lIns="0" tIns="0" rIns="0" bIns="0" rtlCol="0" anchor="ctr"/>
          <a:lstStyle/>
          <a:p>
            <a:pPr indent="0" marL="0">
              <a:lnSpc>
                <a:spcPct val="130000"/>
              </a:lnSpc>
              <a:buNone/>
            </a:pPr>
            <a:r>
              <a:rPr lang="en-US" sz="1150" dirty="0">
                <a:solidFill>
                  <a:srgbClr val="5B6B79"/>
                </a:solidFill>
                <a:latin typeface="Calibri" pitchFamily="34" charset="0"/>
                <a:ea typeface="Calibri" pitchFamily="34" charset="-122"/>
                <a:cs typeface="Calibri" pitchFamily="34" charset="-120"/>
              </a:rPr>
              <a:t>Dataset ini 100% bersih — tidak ada missing value maupun data kosong di seluruh 1000 baris dan 8 kolom. Kolom kategorikal memiliki 2–6 kategori unik, sedangkan kolom nilai memiliki variasi tinggi (72–81 nilai unik).</a:t>
            </a:r>
            <a:endParaRPr lang="en-US" sz="1150" dirty="0"/>
          </a:p>
        </p:txBody>
      </p:sp>
      <p:sp>
        <p:nvSpPr>
          <p:cNvPr id="13" name="Text 9"/>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Students Performance in Exams — Dataset Summary</a:t>
            </a:r>
            <a:endParaRPr lang="en-US" sz="900" dirty="0"/>
          </a:p>
        </p:txBody>
      </p:sp>
      <p:sp>
        <p:nvSpPr>
          <p:cNvPr id="14" name="Text 10"/>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C7293"/>
          </a:solidFill>
          <a:ln/>
        </p:spPr>
      </p:sp>
      <p:sp>
        <p:nvSpPr>
          <p:cNvPr id="3" name="Text 1"/>
          <p:cNvSpPr/>
          <p:nvPr/>
        </p:nvSpPr>
        <p:spPr>
          <a:xfrm>
            <a:off x="548640" y="502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 name="Text 2"/>
          <p:cNvSpPr/>
          <p:nvPr/>
        </p:nvSpPr>
        <p:spPr>
          <a:xfrm>
            <a:off x="1143000" y="502920"/>
            <a:ext cx="7315200" cy="457200"/>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DISTRIBUSI KATEGORI</a:t>
            </a:r>
            <a:endParaRPr lang="en-US" sz="1300" dirty="0"/>
          </a:p>
        </p:txBody>
      </p:sp>
      <p:sp>
        <p:nvSpPr>
          <p:cNvPr id="5" name="Text 3"/>
          <p:cNvSpPr/>
          <p:nvPr/>
        </p:nvSpPr>
        <p:spPr>
          <a:xfrm>
            <a:off x="548640" y="1051560"/>
            <a:ext cx="9144000" cy="45720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Distribusi Variabel Kategorikal</a:t>
            </a:r>
            <a:endParaRPr lang="en-US" sz="2200" dirty="0"/>
          </a:p>
        </p:txBody>
      </p:sp>
      <p:graphicFrame>
        <p:nvGraphicFramePr>
          <p:cNvPr id="6" name="Chart 0" descr=""/>
          <p:cNvGraphicFramePr/>
          <p:nvPr/>
        </p:nvGraphicFramePr>
        <p:xfrm>
          <a:off x="548640" y="1691640"/>
          <a:ext cx="3566160" cy="214884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4297680" y="1691640"/>
          <a:ext cx="3566160" cy="2148840"/>
        </p:xfrm>
        <a:graphic xmlns:a="http://schemas.openxmlformats.org/drawingml/2006/main">
          <a:graphicData uri="http://schemas.openxmlformats.org/drawingml/2006/chart">
            <c:chart xmlns:c="http://schemas.openxmlformats.org/drawingml/2006/chart" r:id="rId2"/>
          </a:graphicData>
        </a:graphic>
      </p:graphicFrame>
      <p:graphicFrame>
        <p:nvGraphicFramePr>
          <p:cNvPr id="8" name="Chart 2" descr=""/>
          <p:cNvGraphicFramePr/>
          <p:nvPr/>
        </p:nvGraphicFramePr>
        <p:xfrm>
          <a:off x="8046720" y="1691640"/>
          <a:ext cx="3566160" cy="2148840"/>
        </p:xfrm>
        <a:graphic xmlns:a="http://schemas.openxmlformats.org/drawingml/2006/main">
          <a:graphicData uri="http://schemas.openxmlformats.org/drawingml/2006/chart">
            <c:chart xmlns:c="http://schemas.openxmlformats.org/drawingml/2006/chart" r:id="rId3"/>
          </a:graphicData>
        </a:graphic>
      </p:graphicFrame>
      <p:sp>
        <p:nvSpPr>
          <p:cNvPr id="9" name="Text 4"/>
          <p:cNvSpPr/>
          <p:nvPr/>
        </p:nvSpPr>
        <p:spPr>
          <a:xfrm>
            <a:off x="548640" y="4023360"/>
            <a:ext cx="5486400" cy="274320"/>
          </a:xfrm>
          <a:prstGeom prst="rect">
            <a:avLst/>
          </a:prstGeom>
          <a:noFill/>
          <a:ln/>
        </p:spPr>
        <p:txBody>
          <a:bodyPr wrap="square" lIns="0" tIns="0" rIns="0" bIns="0" rtlCol="0" anchor="ctr"/>
          <a:lstStyle/>
          <a:p>
            <a:pPr indent="0" marL="0">
              <a:buNone/>
            </a:pPr>
            <a:r>
              <a:rPr lang="en-US" sz="1150" b="1" dirty="0">
                <a:solidFill>
                  <a:srgbClr val="1C7293"/>
                </a:solidFill>
                <a:latin typeface="Calibri" pitchFamily="34" charset="0"/>
                <a:ea typeface="Calibri" pitchFamily="34" charset="-122"/>
                <a:cs typeface="Calibri" pitchFamily="34" charset="-120"/>
              </a:rPr>
              <a:t>value_counts() — semua kolom kategorikal</a:t>
            </a:r>
            <a:endParaRPr lang="en-US" sz="1150" dirty="0"/>
          </a:p>
        </p:txBody>
      </p:sp>
      <p:pic>
        <p:nvPicPr>
          <p:cNvPr id="10" name="Image 0" descr="images/valuecounts.png">    </p:cNvPr>
          <p:cNvPicPr>
            <a:picLocks noChangeAspect="1"/>
          </p:cNvPicPr>
          <p:nvPr/>
        </p:nvPicPr>
        <p:blipFill>
          <a:blip r:embed="rId4"/>
          <a:stretch>
            <a:fillRect/>
          </a:stretch>
        </p:blipFill>
        <p:spPr>
          <a:xfrm>
            <a:off x="548640" y="4343400"/>
            <a:ext cx="4206240" cy="2539700"/>
          </a:xfrm>
          <a:prstGeom prst="rect">
            <a:avLst/>
          </a:prstGeom>
          <a:effectLst>
            <a:outerShdw sx="100000" sy="100000" kx="0" ky="0" algn="bl" rotWithShape="0" blurRad="101600" dist="38100" dir="5400000">
              <a:srgbClr val="000000">
                <a:alpha val="12000"/>
              </a:srgbClr>
            </a:outerShdw>
          </a:effectLst>
        </p:spPr>
      </p:pic>
      <p:sp>
        <p:nvSpPr>
          <p:cNvPr id="11" name="Text 5"/>
          <p:cNvSpPr/>
          <p:nvPr/>
        </p:nvSpPr>
        <p:spPr>
          <a:xfrm>
            <a:off x="5120640" y="4343400"/>
            <a:ext cx="6492240" cy="2194560"/>
          </a:xfrm>
          <a:prstGeom prst="rect">
            <a:avLst/>
          </a:prstGeom>
          <a:noFill/>
          <a:ln/>
        </p:spPr>
        <p:txBody>
          <a:bodyPr wrap="square" lIns="0" tIns="0" rIns="0" bIns="0" rtlCol="0" anchor="ctr"/>
          <a:lstStyle/>
          <a:p>
            <a:pPr marL="342900" indent="-342900">
              <a:lnSpc>
                <a:spcPct val="130000"/>
              </a:lnSpc>
              <a:spcAft>
                <a:spcPts val="800"/>
              </a:spcAft>
              <a:buSzPct val="100000"/>
              <a:buChar char="•"/>
            </a:pPr>
            <a:r>
              <a:rPr lang="en-US" sz="1200" dirty="0">
                <a:solidFill>
                  <a:srgbClr val="5B6B79"/>
                </a:solidFill>
                <a:latin typeface="Calibri" pitchFamily="34" charset="0"/>
                <a:ea typeface="Calibri" pitchFamily="34" charset="-122"/>
                <a:cs typeface="Calibri" pitchFamily="34" charset="-120"/>
              </a:rPr>
              <a:t>Gender hampir seimbang (51.8% perempuan vs 48.2% laki-laki)</a:t>
            </a:r>
            <a:endParaRPr lang="en-US" sz="1200" dirty="0"/>
          </a:p>
          <a:p>
            <a:pPr marL="342900" indent="-342900">
              <a:lnSpc>
                <a:spcPct val="130000"/>
              </a:lnSpc>
              <a:spcAft>
                <a:spcPts val="800"/>
              </a:spcAft>
              <a:buSzPct val="100000"/>
              <a:buChar char="•"/>
            </a:pPr>
            <a:r>
              <a:rPr lang="en-US" sz="1200" dirty="0">
                <a:solidFill>
                  <a:srgbClr val="5B6B79"/>
                </a:solidFill>
                <a:latin typeface="Calibri" pitchFamily="34" charset="0"/>
                <a:ea typeface="Calibri" pitchFamily="34" charset="-122"/>
                <a:cs typeface="Calibri" pitchFamily="34" charset="-120"/>
              </a:rPr>
              <a:t>64.5% siswa menerima lunch standard</a:t>
            </a:r>
            <a:endParaRPr lang="en-US" sz="1200" dirty="0"/>
          </a:p>
          <a:p>
            <a:pPr marL="342900" indent="-342900">
              <a:lnSpc>
                <a:spcPct val="130000"/>
              </a:lnSpc>
              <a:spcAft>
                <a:spcPts val="800"/>
              </a:spcAft>
              <a:buSzPct val="100000"/>
              <a:buChar char="•"/>
            </a:pPr>
            <a:r>
              <a:rPr lang="en-US" sz="1200" dirty="0">
                <a:solidFill>
                  <a:srgbClr val="5B6B79"/>
                </a:solidFill>
                <a:latin typeface="Calibri" pitchFamily="34" charset="0"/>
                <a:ea typeface="Calibri" pitchFamily="34" charset="-122"/>
                <a:cs typeface="Calibri" pitchFamily="34" charset="-120"/>
              </a:rPr>
              <a:t>64.2% siswa belum mengikuti test preparation course</a:t>
            </a:r>
            <a:endParaRPr lang="en-US" sz="1200" dirty="0"/>
          </a:p>
        </p:txBody>
      </p:sp>
      <p:sp>
        <p:nvSpPr>
          <p:cNvPr id="12" name="Text 6"/>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Students Performance in Exams — Dataset Summary</a:t>
            </a:r>
            <a:endParaRPr lang="en-US" sz="900" dirty="0"/>
          </a:p>
        </p:txBody>
      </p:sp>
      <p:sp>
        <p:nvSpPr>
          <p:cNvPr id="13" name="Text 7"/>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C7293"/>
          </a:solidFill>
          <a:ln/>
        </p:spPr>
      </p:sp>
      <p:sp>
        <p:nvSpPr>
          <p:cNvPr id="3" name="Text 1"/>
          <p:cNvSpPr/>
          <p:nvPr/>
        </p:nvSpPr>
        <p:spPr>
          <a:xfrm>
            <a:off x="548640" y="502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4" name="Text 2"/>
          <p:cNvSpPr/>
          <p:nvPr/>
        </p:nvSpPr>
        <p:spPr>
          <a:xfrm>
            <a:off x="1143000" y="502920"/>
            <a:ext cx="7315200" cy="457200"/>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OUTLIER AWAL</a:t>
            </a:r>
            <a:endParaRPr lang="en-US" sz="1300" dirty="0"/>
          </a:p>
        </p:txBody>
      </p:sp>
      <p:sp>
        <p:nvSpPr>
          <p:cNvPr id="5" name="Text 3"/>
          <p:cNvSpPr/>
          <p:nvPr/>
        </p:nvSpPr>
        <p:spPr>
          <a:xfrm>
            <a:off x="548640" y="1051560"/>
            <a:ext cx="9144000" cy="45720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Deteksi Outlier Awal (Metode IQR)</a:t>
            </a:r>
            <a:endParaRPr lang="en-US" sz="2200" dirty="0"/>
          </a:p>
        </p:txBody>
      </p:sp>
      <p:pic>
        <p:nvPicPr>
          <p:cNvPr id="6" name="Image 0" descr="images/boxplot.png">    </p:cNvPr>
          <p:cNvPicPr>
            <a:picLocks noChangeAspect="1"/>
          </p:cNvPicPr>
          <p:nvPr/>
        </p:nvPicPr>
        <p:blipFill>
          <a:blip r:embed="rId1"/>
          <a:stretch>
            <a:fillRect/>
          </a:stretch>
        </p:blipFill>
        <p:spPr>
          <a:xfrm>
            <a:off x="548640" y="1828800"/>
            <a:ext cx="6035040" cy="2485916"/>
          </a:xfrm>
          <a:prstGeom prst="rect">
            <a:avLst/>
          </a:prstGeom>
          <a:effectLst>
            <a:outerShdw sx="100000" sy="100000" kx="0" ky="0" algn="bl" rotWithShape="0" blurRad="101600" dist="38100" dir="5400000">
              <a:srgbClr val="000000">
                <a:alpha val="12000"/>
              </a:srgbClr>
            </a:outerShdw>
          </a:effectLst>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949440" y="1920240"/>
          <a:ext cx="4663440" cy="1463040"/>
        </p:xfrm>
        <a:graphic>
          <a:graphicData uri="http://schemas.openxmlformats.org/drawingml/2006/table">
            <a:tbl>
              <a:tblPr/>
              <a:tblGrid>
                <a:gridCol w="1165860"/>
                <a:gridCol w="1165860"/>
                <a:gridCol w="1165860"/>
                <a:gridCol w="1165860"/>
              </a:tblGrid>
              <a:tr h="36576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Kolom</a:t>
                      </a:r>
                      <a:endParaRPr lang="en-US" sz="1150" dirty="0">
                        <a:latin typeface="Calibri" charset="0"/>
                        <a:ea typeface="Calibri" charset="0"/>
                        <a:cs typeface="Calibri" charset="0"/>
                      </a:endParaRPr>
                    </a:p>
                  </a:txBody>
                  <a:tcPr marL="91440" marR="91440" marT="45720" marB="45720"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Batas Bawah</a:t>
                      </a:r>
                      <a:endParaRPr lang="en-US" sz="1150" dirty="0">
                        <a:latin typeface="Calibri" charset="0"/>
                        <a:ea typeface="Calibri" charset="0"/>
                        <a:cs typeface="Calibri" charset="0"/>
                      </a:endParaRPr>
                    </a:p>
                  </a:txBody>
                  <a:tcPr marL="91440" marR="91440" marT="45720" marB="45720"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Batas Atas</a:t>
                      </a:r>
                      <a:endParaRPr lang="en-US" sz="1150" dirty="0">
                        <a:latin typeface="Calibri" charset="0"/>
                        <a:ea typeface="Calibri" charset="0"/>
                        <a:cs typeface="Calibri" charset="0"/>
                      </a:endParaRPr>
                    </a:p>
                  </a:txBody>
                  <a:tcPr marL="91440" marR="91440" marT="45720" marB="45720"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Jml Outlier</a:t>
                      </a:r>
                      <a:endParaRPr lang="en-US" sz="1150" dirty="0">
                        <a:latin typeface="Calibri" charset="0"/>
                        <a:ea typeface="Calibri" charset="0"/>
                        <a:cs typeface="Calibri" charset="0"/>
                      </a:endParaRPr>
                    </a:p>
                  </a:txBody>
                  <a:tcPr marL="91440" marR="91440" marT="45720" marB="45720"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0B2545"/>
                    </a:solidFill>
                  </a:tcPr>
                </a:tc>
              </a:tr>
              <a:tr h="36576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Math Score</a:t>
                      </a:r>
                      <a:endParaRPr lang="en-US" sz="1150" dirty="0">
                        <a:latin typeface="Calibri" charset="0"/>
                        <a:ea typeface="Calibri" charset="0"/>
                        <a:cs typeface="Calibri" charset="0"/>
                      </a:endParaRPr>
                    </a:p>
                  </a:txBody>
                  <a:tcPr marL="91440" marR="91440" marT="45720" marB="45720"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27</a:t>
                      </a:r>
                      <a:endParaRPr lang="en-US" sz="1150" dirty="0">
                        <a:latin typeface="Calibri" charset="0"/>
                        <a:ea typeface="Calibri" charset="0"/>
                        <a:cs typeface="Calibri" charset="0"/>
                      </a:endParaRPr>
                    </a:p>
                  </a:txBody>
                  <a:tcPr marL="91440" marR="91440" marT="45720" marB="45720"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107</a:t>
                      </a:r>
                      <a:endParaRPr lang="en-US" sz="1150" dirty="0">
                        <a:latin typeface="Calibri" charset="0"/>
                        <a:ea typeface="Calibri" charset="0"/>
                        <a:cs typeface="Calibri" charset="0"/>
                      </a:endParaRPr>
                    </a:p>
                  </a:txBody>
                  <a:tcPr marL="91440" marR="91440" marT="45720" marB="45720"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tcPr>
                </a:tc>
              </a:tr>
              <a:tr h="36576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Reading Score</a:t>
                      </a:r>
                      <a:endParaRPr lang="en-US" sz="1150" dirty="0">
                        <a:latin typeface="Calibri" charset="0"/>
                        <a:ea typeface="Calibri" charset="0"/>
                        <a:cs typeface="Calibri" charset="0"/>
                      </a:endParaRPr>
                    </a:p>
                  </a:txBody>
                  <a:tcPr marL="91440" marR="91440" marT="45720" marB="45720"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29</a:t>
                      </a:r>
                      <a:endParaRPr lang="en-US" sz="1150" dirty="0">
                        <a:latin typeface="Calibri" charset="0"/>
                        <a:ea typeface="Calibri" charset="0"/>
                        <a:cs typeface="Calibri" charset="0"/>
                      </a:endParaRPr>
                    </a:p>
                  </a:txBody>
                  <a:tcPr marL="91440" marR="91440" marT="45720" marB="45720"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109</a:t>
                      </a:r>
                      <a:endParaRPr lang="en-US" sz="1150" dirty="0">
                        <a:latin typeface="Calibri" charset="0"/>
                        <a:ea typeface="Calibri" charset="0"/>
                        <a:cs typeface="Calibri" charset="0"/>
                      </a:endParaRPr>
                    </a:p>
                  </a:txBody>
                  <a:tcPr marL="91440" marR="91440" marT="45720" marB="45720"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tcPr>
                </a:tc>
              </a:tr>
              <a:tr h="36576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Writing Score</a:t>
                      </a:r>
                      <a:endParaRPr lang="en-US" sz="1150" dirty="0">
                        <a:latin typeface="Calibri" charset="0"/>
                        <a:ea typeface="Calibri" charset="0"/>
                        <a:cs typeface="Calibri" charset="0"/>
                      </a:endParaRPr>
                    </a:p>
                  </a:txBody>
                  <a:tcPr marL="91440" marR="91440" marT="45720" marB="45720"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25.9</a:t>
                      </a:r>
                      <a:endParaRPr lang="en-US" sz="1150" dirty="0">
                        <a:latin typeface="Calibri" charset="0"/>
                        <a:ea typeface="Calibri" charset="0"/>
                        <a:cs typeface="Calibri" charset="0"/>
                      </a:endParaRPr>
                    </a:p>
                  </a:txBody>
                  <a:tcPr marL="91440" marR="91440" marT="45720" marB="45720"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110.9</a:t>
                      </a:r>
                      <a:endParaRPr lang="en-US" sz="1150" dirty="0">
                        <a:latin typeface="Calibri" charset="0"/>
                        <a:ea typeface="Calibri" charset="0"/>
                        <a:cs typeface="Calibri" charset="0"/>
                      </a:endParaRPr>
                    </a:p>
                  </a:txBody>
                  <a:tcPr marL="91440" marR="91440" marT="45720" marB="45720"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tcPr>
                </a:tc>
              </a:tr>
            </a:tbl>
          </a:graphicData>
        </a:graphic>
      </p:graphicFrame>
      <p:sp>
        <p:nvSpPr>
          <p:cNvPr id="8" name="Shape 4"/>
          <p:cNvSpPr/>
          <p:nvPr/>
        </p:nvSpPr>
        <p:spPr>
          <a:xfrm>
            <a:off x="6949440" y="3657600"/>
            <a:ext cx="4663440" cy="1920240"/>
          </a:xfrm>
          <a:prstGeom prst="roundRect">
            <a:avLst>
              <a:gd name="adj" fmla="val 3810"/>
            </a:avLst>
          </a:prstGeom>
          <a:solidFill>
            <a:srgbClr val="FDF2F2"/>
          </a:solidFill>
          <a:ln/>
        </p:spPr>
      </p:sp>
      <p:sp>
        <p:nvSpPr>
          <p:cNvPr id="9" name="Text 5"/>
          <p:cNvSpPr/>
          <p:nvPr/>
        </p:nvSpPr>
        <p:spPr>
          <a:xfrm>
            <a:off x="7223760" y="3840480"/>
            <a:ext cx="4206240" cy="27432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Catatan</a:t>
            </a:r>
            <a:endParaRPr lang="en-US" sz="1250" dirty="0"/>
          </a:p>
        </p:txBody>
      </p:sp>
      <p:sp>
        <p:nvSpPr>
          <p:cNvPr id="10" name="Text 6"/>
          <p:cNvSpPr/>
          <p:nvPr/>
        </p:nvSpPr>
        <p:spPr>
          <a:xfrm>
            <a:off x="7223760" y="4160520"/>
            <a:ext cx="4206240" cy="1325880"/>
          </a:xfrm>
          <a:prstGeom prst="rect">
            <a:avLst/>
          </a:prstGeom>
          <a:noFill/>
          <a:ln/>
        </p:spPr>
        <p:txBody>
          <a:bodyPr wrap="square" lIns="0" tIns="0" rIns="0" bIns="0" rtlCol="0" anchor="ctr"/>
          <a:lstStyle/>
          <a:p>
            <a:pPr indent="0" marL="0">
              <a:lnSpc>
                <a:spcPct val="130000"/>
              </a:lnSpc>
              <a:buNone/>
            </a:pPr>
            <a:r>
              <a:rPr lang="en-US" sz="1150" dirty="0">
                <a:solidFill>
                  <a:srgbClr val="5B6B79"/>
                </a:solidFill>
                <a:latin typeface="Calibri" pitchFamily="34" charset="0"/>
                <a:ea typeface="Calibri" pitchFamily="34" charset="-122"/>
                <a:cs typeface="Calibri" pitchFamily="34" charset="-120"/>
              </a:rPr>
              <a:t>Outlier terdeteksi pada nilai yang sangat rendah (termasuk math score = 0), kemungkinan siswa tidak mengikuti ujian atau kesalahan input data — bukan outlier pada nilai tinggi.</a:t>
            </a:r>
            <a:endParaRPr lang="en-US" sz="1150" dirty="0"/>
          </a:p>
        </p:txBody>
      </p:sp>
      <p:sp>
        <p:nvSpPr>
          <p:cNvPr id="11" name="Text 7"/>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Students Performance in Exams — Dataset Summary</a:t>
            </a:r>
            <a:endParaRPr lang="en-US" sz="900" dirty="0"/>
          </a:p>
        </p:txBody>
      </p:sp>
      <p:sp>
        <p:nvSpPr>
          <p:cNvPr id="12" name="Text 8"/>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1C7293">
              <a:alpha val="20000"/>
            </a:srgbClr>
          </a:solidFill>
          <a:ln/>
        </p:spPr>
      </p:sp>
      <p:sp>
        <p:nvSpPr>
          <p:cNvPr id="3" name="Text 1"/>
          <p:cNvSpPr/>
          <p:nvPr/>
        </p:nvSpPr>
        <p:spPr>
          <a:xfrm>
            <a:off x="548640" y="548640"/>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INSIGHT AWAL</a:t>
            </a:r>
            <a:endParaRPr lang="en-US" sz="2600" dirty="0"/>
          </a:p>
        </p:txBody>
      </p:sp>
      <p:sp>
        <p:nvSpPr>
          <p:cNvPr id="4" name="Shape 2"/>
          <p:cNvSpPr/>
          <p:nvPr/>
        </p:nvSpPr>
        <p:spPr>
          <a:xfrm>
            <a:off x="548640" y="1463040"/>
            <a:ext cx="292608" cy="292608"/>
          </a:xfrm>
          <a:prstGeom prst="ellipse">
            <a:avLst/>
          </a:prstGeom>
          <a:solidFill>
            <a:srgbClr val="6FCF97"/>
          </a:solidFill>
          <a:ln/>
        </p:spPr>
      </p:sp>
      <p:sp>
        <p:nvSpPr>
          <p:cNvPr id="5" name="Text 3"/>
          <p:cNvSpPr/>
          <p:nvPr/>
        </p:nvSpPr>
        <p:spPr>
          <a:xfrm>
            <a:off x="548640" y="1463040"/>
            <a:ext cx="292608" cy="29260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960120" y="1417320"/>
            <a:ext cx="4937760" cy="1097280"/>
          </a:xfrm>
          <a:prstGeom prst="rect">
            <a:avLst/>
          </a:prstGeom>
          <a:noFill/>
          <a:ln/>
        </p:spPr>
        <p:txBody>
          <a:bodyPr wrap="square" lIns="0" tIns="0" rIns="0" bIns="0" rtlCol="0" anchor="t"/>
          <a:lstStyle/>
          <a:p>
            <a:pPr indent="0" marL="0">
              <a:lnSpc>
                <a:spcPct val="125000"/>
              </a:lnSpc>
              <a:buNone/>
            </a:pPr>
            <a:r>
              <a:rPr lang="en-US" sz="1250" dirty="0">
                <a:solidFill>
                  <a:srgbClr val="E8EEF3"/>
                </a:solidFill>
                <a:latin typeface="Calibri" pitchFamily="34" charset="0"/>
                <a:ea typeface="Calibri" pitchFamily="34" charset="-122"/>
                <a:cs typeface="Calibri" pitchFamily="34" charset="-120"/>
              </a:rPr>
              <a:t>Dataset bersih: tidak ada missing value maupun baris duplikat dari 1000 data.</a:t>
            </a:r>
            <a:endParaRPr lang="en-US" sz="1250" dirty="0"/>
          </a:p>
        </p:txBody>
      </p:sp>
      <p:sp>
        <p:nvSpPr>
          <p:cNvPr id="7" name="Shape 5"/>
          <p:cNvSpPr/>
          <p:nvPr/>
        </p:nvSpPr>
        <p:spPr>
          <a:xfrm>
            <a:off x="6217920" y="1463040"/>
            <a:ext cx="292608" cy="292608"/>
          </a:xfrm>
          <a:prstGeom prst="ellipse">
            <a:avLst/>
          </a:prstGeom>
          <a:solidFill>
            <a:srgbClr val="6FCF97"/>
          </a:solidFill>
          <a:ln/>
        </p:spPr>
      </p:sp>
      <p:sp>
        <p:nvSpPr>
          <p:cNvPr id="8" name="Text 6"/>
          <p:cNvSpPr/>
          <p:nvPr/>
        </p:nvSpPr>
        <p:spPr>
          <a:xfrm>
            <a:off x="6217920" y="1463040"/>
            <a:ext cx="292608" cy="29260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6629400" y="1417320"/>
            <a:ext cx="4937760" cy="1097280"/>
          </a:xfrm>
          <a:prstGeom prst="rect">
            <a:avLst/>
          </a:prstGeom>
          <a:noFill/>
          <a:ln/>
        </p:spPr>
        <p:txBody>
          <a:bodyPr wrap="square" lIns="0" tIns="0" rIns="0" bIns="0" rtlCol="0" anchor="t"/>
          <a:lstStyle/>
          <a:p>
            <a:pPr indent="0" marL="0">
              <a:lnSpc>
                <a:spcPct val="125000"/>
              </a:lnSpc>
              <a:buNone/>
            </a:pPr>
            <a:r>
              <a:rPr lang="en-US" sz="1250" dirty="0">
                <a:solidFill>
                  <a:srgbClr val="E8EEF3"/>
                </a:solidFill>
                <a:latin typeface="Calibri" pitchFamily="34" charset="0"/>
                <a:ea typeface="Calibri" pitchFamily="34" charset="-122"/>
                <a:cs typeface="Calibri" pitchFamily="34" charset="-120"/>
              </a:rPr>
              <a:t>Distribusi gender cukup seimbang (51.8% perempuan vs 48.2% laki-laki).</a:t>
            </a:r>
            <a:endParaRPr lang="en-US" sz="1250" dirty="0"/>
          </a:p>
        </p:txBody>
      </p:sp>
      <p:sp>
        <p:nvSpPr>
          <p:cNvPr id="10" name="Shape 8"/>
          <p:cNvSpPr/>
          <p:nvPr/>
        </p:nvSpPr>
        <p:spPr>
          <a:xfrm>
            <a:off x="548640" y="2697480"/>
            <a:ext cx="292608" cy="292608"/>
          </a:xfrm>
          <a:prstGeom prst="ellipse">
            <a:avLst/>
          </a:prstGeom>
          <a:solidFill>
            <a:srgbClr val="6FCF97"/>
          </a:solidFill>
          <a:ln/>
        </p:spPr>
      </p:sp>
      <p:sp>
        <p:nvSpPr>
          <p:cNvPr id="11" name="Text 9"/>
          <p:cNvSpPr/>
          <p:nvPr/>
        </p:nvSpPr>
        <p:spPr>
          <a:xfrm>
            <a:off x="548640" y="2697480"/>
            <a:ext cx="292608" cy="29260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3</a:t>
            </a:r>
            <a:endParaRPr lang="en-US" sz="1200" dirty="0"/>
          </a:p>
        </p:txBody>
      </p:sp>
      <p:sp>
        <p:nvSpPr>
          <p:cNvPr id="12" name="Text 10"/>
          <p:cNvSpPr/>
          <p:nvPr/>
        </p:nvSpPr>
        <p:spPr>
          <a:xfrm>
            <a:off x="960120" y="2651760"/>
            <a:ext cx="4937760" cy="1097280"/>
          </a:xfrm>
          <a:prstGeom prst="rect">
            <a:avLst/>
          </a:prstGeom>
          <a:noFill/>
          <a:ln/>
        </p:spPr>
        <p:txBody>
          <a:bodyPr wrap="square" lIns="0" tIns="0" rIns="0" bIns="0" rtlCol="0" anchor="t"/>
          <a:lstStyle/>
          <a:p>
            <a:pPr indent="0" marL="0">
              <a:lnSpc>
                <a:spcPct val="125000"/>
              </a:lnSpc>
              <a:buNone/>
            </a:pPr>
            <a:r>
              <a:rPr lang="en-US" sz="1250" dirty="0">
                <a:solidFill>
                  <a:srgbClr val="E8EEF3"/>
                </a:solidFill>
                <a:latin typeface="Calibri" pitchFamily="34" charset="0"/>
                <a:ea typeface="Calibri" pitchFamily="34" charset="-122"/>
                <a:cs typeface="Calibri" pitchFamily="34" charset="-120"/>
              </a:rPr>
              <a:t>64.2% siswa belum mengikuti test preparation course.</a:t>
            </a:r>
            <a:endParaRPr lang="en-US" sz="1250" dirty="0"/>
          </a:p>
        </p:txBody>
      </p:sp>
      <p:sp>
        <p:nvSpPr>
          <p:cNvPr id="13" name="Shape 11"/>
          <p:cNvSpPr/>
          <p:nvPr/>
        </p:nvSpPr>
        <p:spPr>
          <a:xfrm>
            <a:off x="6217920" y="2697480"/>
            <a:ext cx="292608" cy="292608"/>
          </a:xfrm>
          <a:prstGeom prst="ellipse">
            <a:avLst/>
          </a:prstGeom>
          <a:solidFill>
            <a:srgbClr val="6FCF97"/>
          </a:solidFill>
          <a:ln/>
        </p:spPr>
      </p:sp>
      <p:sp>
        <p:nvSpPr>
          <p:cNvPr id="14" name="Text 12"/>
          <p:cNvSpPr/>
          <p:nvPr/>
        </p:nvSpPr>
        <p:spPr>
          <a:xfrm>
            <a:off x="6217920" y="2697480"/>
            <a:ext cx="292608" cy="29260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4</a:t>
            </a:r>
            <a:endParaRPr lang="en-US" sz="1200" dirty="0"/>
          </a:p>
        </p:txBody>
      </p:sp>
      <p:sp>
        <p:nvSpPr>
          <p:cNvPr id="15" name="Text 13"/>
          <p:cNvSpPr/>
          <p:nvPr/>
        </p:nvSpPr>
        <p:spPr>
          <a:xfrm>
            <a:off x="6629400" y="2651760"/>
            <a:ext cx="4937760" cy="1097280"/>
          </a:xfrm>
          <a:prstGeom prst="rect">
            <a:avLst/>
          </a:prstGeom>
          <a:noFill/>
          <a:ln/>
        </p:spPr>
        <p:txBody>
          <a:bodyPr wrap="square" lIns="0" tIns="0" rIns="0" bIns="0" rtlCol="0" anchor="t"/>
          <a:lstStyle/>
          <a:p>
            <a:pPr indent="0" marL="0">
              <a:lnSpc>
                <a:spcPct val="125000"/>
              </a:lnSpc>
              <a:buNone/>
            </a:pPr>
            <a:r>
              <a:rPr lang="en-US" sz="1250" dirty="0">
                <a:solidFill>
                  <a:srgbClr val="E8EEF3"/>
                </a:solidFill>
                <a:latin typeface="Calibri" pitchFamily="34" charset="0"/>
                <a:ea typeface="Calibri" pitchFamily="34" charset="-122"/>
                <a:cs typeface="Calibri" pitchFamily="34" charset="-120"/>
              </a:rPr>
              <a:t>Reading score memiliki rata-rata tertinggi (69.2) dibanding math dan writing.</a:t>
            </a:r>
            <a:endParaRPr lang="en-US" sz="1250" dirty="0"/>
          </a:p>
        </p:txBody>
      </p:sp>
      <p:sp>
        <p:nvSpPr>
          <p:cNvPr id="16" name="Shape 14"/>
          <p:cNvSpPr/>
          <p:nvPr/>
        </p:nvSpPr>
        <p:spPr>
          <a:xfrm>
            <a:off x="548640" y="3931920"/>
            <a:ext cx="292608" cy="292608"/>
          </a:xfrm>
          <a:prstGeom prst="ellipse">
            <a:avLst/>
          </a:prstGeom>
          <a:solidFill>
            <a:srgbClr val="6FCF97"/>
          </a:solidFill>
          <a:ln/>
        </p:spPr>
      </p:sp>
      <p:sp>
        <p:nvSpPr>
          <p:cNvPr id="17" name="Text 15"/>
          <p:cNvSpPr/>
          <p:nvPr/>
        </p:nvSpPr>
        <p:spPr>
          <a:xfrm>
            <a:off x="548640" y="3931920"/>
            <a:ext cx="292608" cy="29260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5</a:t>
            </a:r>
            <a:endParaRPr lang="en-US" sz="1200" dirty="0"/>
          </a:p>
        </p:txBody>
      </p:sp>
      <p:sp>
        <p:nvSpPr>
          <p:cNvPr id="18" name="Text 16"/>
          <p:cNvSpPr/>
          <p:nvPr/>
        </p:nvSpPr>
        <p:spPr>
          <a:xfrm>
            <a:off x="960120" y="3886200"/>
            <a:ext cx="4937760" cy="1097280"/>
          </a:xfrm>
          <a:prstGeom prst="rect">
            <a:avLst/>
          </a:prstGeom>
          <a:noFill/>
          <a:ln/>
        </p:spPr>
        <p:txBody>
          <a:bodyPr wrap="square" lIns="0" tIns="0" rIns="0" bIns="0" rtlCol="0" anchor="t"/>
          <a:lstStyle/>
          <a:p>
            <a:pPr indent="0" marL="0">
              <a:lnSpc>
                <a:spcPct val="125000"/>
              </a:lnSpc>
              <a:buNone/>
            </a:pPr>
            <a:r>
              <a:rPr lang="en-US" sz="1250" dirty="0">
                <a:solidFill>
                  <a:srgbClr val="E8EEF3"/>
                </a:solidFill>
                <a:latin typeface="Calibri" pitchFamily="34" charset="0"/>
                <a:ea typeface="Calibri" pitchFamily="34" charset="-122"/>
                <a:cs typeface="Calibri" pitchFamily="34" charset="-120"/>
              </a:rPr>
              <a:t>Terdapat beberapa outlier nilai sangat rendah (termasuk math score = 0) yang perlu diperiksa lebih lanjut.</a:t>
            </a:r>
            <a:endParaRPr lang="en-US" sz="1250" dirty="0"/>
          </a:p>
        </p:txBody>
      </p:sp>
      <p:sp>
        <p:nvSpPr>
          <p:cNvPr id="19" name="Shape 17"/>
          <p:cNvSpPr/>
          <p:nvPr/>
        </p:nvSpPr>
        <p:spPr>
          <a:xfrm>
            <a:off x="6217920" y="3931920"/>
            <a:ext cx="292608" cy="292608"/>
          </a:xfrm>
          <a:prstGeom prst="ellipse">
            <a:avLst/>
          </a:prstGeom>
          <a:solidFill>
            <a:srgbClr val="6FCF97"/>
          </a:solidFill>
          <a:ln/>
        </p:spPr>
      </p:sp>
      <p:sp>
        <p:nvSpPr>
          <p:cNvPr id="20" name="Text 18"/>
          <p:cNvSpPr/>
          <p:nvPr/>
        </p:nvSpPr>
        <p:spPr>
          <a:xfrm>
            <a:off x="6217920" y="3931920"/>
            <a:ext cx="292608" cy="29260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6</a:t>
            </a:r>
            <a:endParaRPr lang="en-US" sz="1200" dirty="0"/>
          </a:p>
        </p:txBody>
      </p:sp>
      <p:sp>
        <p:nvSpPr>
          <p:cNvPr id="21" name="Text 19"/>
          <p:cNvSpPr/>
          <p:nvPr/>
        </p:nvSpPr>
        <p:spPr>
          <a:xfrm>
            <a:off x="6629400" y="3886200"/>
            <a:ext cx="4937760" cy="1097280"/>
          </a:xfrm>
          <a:prstGeom prst="rect">
            <a:avLst/>
          </a:prstGeom>
          <a:noFill/>
          <a:ln/>
        </p:spPr>
        <p:txBody>
          <a:bodyPr wrap="square" lIns="0" tIns="0" rIns="0" bIns="0" rtlCol="0" anchor="t"/>
          <a:lstStyle/>
          <a:p>
            <a:pPr indent="0" marL="0">
              <a:lnSpc>
                <a:spcPct val="125000"/>
              </a:lnSpc>
              <a:buNone/>
            </a:pPr>
            <a:r>
              <a:rPr lang="en-US" sz="1250" dirty="0">
                <a:solidFill>
                  <a:srgbClr val="E8EEF3"/>
                </a:solidFill>
                <a:latin typeface="Calibri" pitchFamily="34" charset="0"/>
                <a:ea typeface="Calibri" pitchFamily="34" charset="-122"/>
                <a:cs typeface="Calibri" pitchFamily="34" charset="-120"/>
              </a:rPr>
              <a:t>Kategori race/ethnicity didominasi Group C (319 siswa) dan Group D (262 siswa).</a:t>
            </a:r>
            <a:endParaRPr lang="en-US" sz="1250" dirty="0"/>
          </a:p>
        </p:txBody>
      </p:sp>
      <p:sp>
        <p:nvSpPr>
          <p:cNvPr id="22" name="Shape 20"/>
          <p:cNvSpPr/>
          <p:nvPr/>
        </p:nvSpPr>
        <p:spPr>
          <a:xfrm>
            <a:off x="548640" y="5166360"/>
            <a:ext cx="292608" cy="292608"/>
          </a:xfrm>
          <a:prstGeom prst="ellipse">
            <a:avLst/>
          </a:prstGeom>
          <a:solidFill>
            <a:srgbClr val="6FCF97"/>
          </a:solidFill>
          <a:ln/>
        </p:spPr>
      </p:sp>
      <p:sp>
        <p:nvSpPr>
          <p:cNvPr id="23" name="Text 21"/>
          <p:cNvSpPr/>
          <p:nvPr/>
        </p:nvSpPr>
        <p:spPr>
          <a:xfrm>
            <a:off x="548640" y="5166360"/>
            <a:ext cx="292608" cy="29260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7</a:t>
            </a:r>
            <a:endParaRPr lang="en-US" sz="1200" dirty="0"/>
          </a:p>
        </p:txBody>
      </p:sp>
      <p:sp>
        <p:nvSpPr>
          <p:cNvPr id="24" name="Text 22"/>
          <p:cNvSpPr/>
          <p:nvPr/>
        </p:nvSpPr>
        <p:spPr>
          <a:xfrm>
            <a:off x="960120" y="5120640"/>
            <a:ext cx="4937760" cy="1097280"/>
          </a:xfrm>
          <a:prstGeom prst="rect">
            <a:avLst/>
          </a:prstGeom>
          <a:noFill/>
          <a:ln/>
        </p:spPr>
        <p:txBody>
          <a:bodyPr wrap="square" lIns="0" tIns="0" rIns="0" bIns="0" rtlCol="0" anchor="t"/>
          <a:lstStyle/>
          <a:p>
            <a:pPr indent="0" marL="0">
              <a:lnSpc>
                <a:spcPct val="125000"/>
              </a:lnSpc>
              <a:buNone/>
            </a:pPr>
            <a:r>
              <a:rPr lang="en-US" sz="1250" dirty="0">
                <a:solidFill>
                  <a:srgbClr val="E8EEF3"/>
                </a:solidFill>
                <a:latin typeface="Calibri" pitchFamily="34" charset="0"/>
                <a:ea typeface="Calibri" pitchFamily="34" charset="-122"/>
                <a:cs typeface="Calibri" pitchFamily="34" charset="-120"/>
              </a:rPr>
              <a:t>Variasi nilai (std ±14–15) menunjukkan performa siswa cukup beragam — membuka peluang analisis lanjutan.</a:t>
            </a:r>
            <a:endParaRPr lang="en-US" sz="1250" dirty="0"/>
          </a:p>
        </p:txBody>
      </p:sp>
      <p:sp>
        <p:nvSpPr>
          <p:cNvPr id="25" name="Text 23"/>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9DB4C9"/>
                </a:solidFill>
                <a:latin typeface="Calibri" pitchFamily="34" charset="0"/>
                <a:ea typeface="Calibri" pitchFamily="34" charset="-122"/>
                <a:cs typeface="Calibri" pitchFamily="34" charset="-120"/>
              </a:rPr>
              <a:t>Students Performance in Exams — Dataset Summary</a:t>
            </a:r>
            <a:endParaRPr lang="en-US" sz="900" dirty="0"/>
          </a:p>
        </p:txBody>
      </p:sp>
      <p:sp>
        <p:nvSpPr>
          <p:cNvPr id="26" name="Text 2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9DB4C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Dataset Summary - Students Performance in Exams</dc:title>
  <dc:subject>PptxGenJS Presentation</dc:subject>
  <dc:creator>Data Understanding Task</dc:creator>
  <cp:lastModifiedBy>Data Understanding Task</cp:lastModifiedBy>
  <cp:revision>1</cp:revision>
  <dcterms:created xsi:type="dcterms:W3CDTF">2026-07-08T04:27:17Z</dcterms:created>
  <dcterms:modified xsi:type="dcterms:W3CDTF">2026-07-08T04:27:17Z</dcterms:modified>
</cp:coreProperties>
</file>