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pagi/siang semua. Kalau sebelumnya kita sudah lihat struktur dan kualitas dataset, sekarang saya akan masuk ke bagian yang lebih penting: mencari hubungan antar variabel. Saya melakukan uji statistik — perbandingan rata-rata nilai antar kelompok, dan uji t-test untuk memastikan perbedaan yang kita lihat itu signifikan secara statistik, bukan kebetulan. Semua temuan yang saya sampaikan di sini punya nilai p di bawah 0.001, artinya sangat signifikan secara statistik.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Temuan pertama dan salah satu yang paling kuat: siswa dengan program lunch standard punya rata-rata nilai 70.8, sementara siswa dengan lunch free atau reduced hanya 62.2. Selisihnya 8.6 poin, dan setelah saya uji dengan t-test, hasilnya sangat signifikan — p-value-nya jauh di bawah 0.001, artinya peluang ini terjadi karena kebetulan sangat kecil. Karena lunch subsidi biasanya jadi indikator status ekonomi keluarga, ini mengindikasikan adanya kesenjangan akademik yang berhubungan dengan kondisi ekonomi siswa.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Temuan kedua: test preparation course. Siswa yang menyelesaikan kursus ini rata-rata dapat nilai 72.7, dibanding 65.0 bagi yang tidak ikut — selisih 7.6 poin, dan ini juga signifikan secara statistik. Yang menarik, dari eksplorasi sebelumnya kita tahu 64% siswa BELUM ikut kursus ini. Jadi ini bukan cuma insight akademik, tapi juga insight bisnis: ada peluang besar untuk sekolah atau platform edukasi menawarkan program persiapan ujian, karena mayoritas siswa yang belum tersentuh punya potensi peningkatan nilai yang signifikan.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kita gabungkan dua faktor ini — lunch dan test preparation course — kesenjangannya makin jelas. Siswa dengan kombinasi paling menguntungkan, yaitu lunch standard dan sudah ikut kursus persiapan, rata-rata dapat nilai 75.5. Sementara siswa dengan kombinasi paling tidak menguntungkan, lunch free/reduced dan belum ikut kursus, hanya dapat 58.9. Itu selisih 16.6 poin, atau 28 persen. Ini menunjukkan efek dari faktor ekonomi dan akses ke program persiapan itu bersifat kumulatif — bukan cuma berdiri sendiri-sendiri.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Faktor ketiga: pendidikan orang tua. Polanya konsisten naik — semakin tinggi pendidikan orang tua, semakin tinggi rata-rata nilai anak. Dari some high school di angka 65.1, naik terus sampai master's degree di angka 73.6 — kenaikan 8.5 poin atau 13 persen. Secara korelasi, angkanya 0.21 — positif tapi tergolong lemah-sedang, artinya pendidikan orang tua berkontribusi tapi bukan satu-satunya faktor penentu nilai anak.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kita pecah per gender dan per mata pelajaran, polanya menarik dan tidak seragam. Laki-laki unggul di matematika, dengan selisih 5.1 poin. Tapi perempuan unggul jauh lebih besar di reading, 7.1 poin, dan di writing malah 9.2 poin. Semua perbedaan ini signifikan secara statistik. Ini insight penting: kalau mau bikin program remedial, treatment-nya sebaiknya tidak disamaratakan, karena kebutuhan laki-laki dan perempuan berbeda tergantung mata pelajaran.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Terakhir dari sisi korelasi antar nilai. Reading dan writing punya korelasi 0.955 — sangat kuat, hampir sempurna. Artinya siswa yang bagus di reading, hampir pasti bagus juga di writing. Sementara math punya korelasi 0.82 dengan reading dan 0.80 dengan writing — masih kuat, tapi tidak sekuat hubungan reading-writing. Ini masuk akal karena reading dan writing sama-sama kemampuan bahasa, sedangkan math adalah kemampuan numerik yang agak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penutup, ini enam insight bisnis utama dari analisis kita:
Satu, program test preparation course terbukti menaikkan nilai signifikan, tapi mayoritas siswa belum ikut — ini peluang ekspansi program yang jelas.
Dua, kesenjangan ekonomi lewat status lunch berdampak nyata ke nilai — artinya bantuan makan siang bisa dilihat sebagai investasi akademik, bukan cuma bantuan sosial biasa.
Tiga, efek dari faktor-faktor ini bersifat kumulatif — siswa dengan kombinasi kondisi terbaik bisa unggul sampai 28 persen dibanding kombinasi terburuk.
Empat, keterlibatan orang tua lewat tingkat pendidikan juga berkontribusi — jadi program pelibatan orang tua bisa jadi strategi jangka panjang.
Lima, ada perbedaan pola gender per mata pelajaran, jadi program remedial idealnya disesuaikan, tidak disamaratakan.
Enam, kemampuan reading dan writing sangat berkaitan, jadi program literasi bisa menyasar dua kemampuan ini sekaligus.
Kesimpulannya, performa akademik siswa bukan cuma soal kemampuan individu, tapi juga sangat dipengaruhi akses ke sumber daya — ekonomi, program persiapan, dan lingkungan keluarga. Terima kasih.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418320" y="-1371600"/>
            <a:ext cx="4572000" cy="4572000"/>
          </a:xfrm>
          <a:prstGeom prst="ellipse">
            <a:avLst/>
          </a:prstGeom>
          <a:solidFill>
            <a:srgbClr val="1C7293">
              <a:alpha val="22000"/>
            </a:srgbClr>
          </a:solidFill>
          <a:ln/>
        </p:spPr>
      </p:sp>
      <p:sp>
        <p:nvSpPr>
          <p:cNvPr id="3" name="Shape 1"/>
          <p:cNvSpPr/>
          <p:nvPr/>
        </p:nvSpPr>
        <p:spPr>
          <a:xfrm>
            <a:off x="-1371600" y="4389120"/>
            <a:ext cx="3657600" cy="3657600"/>
          </a:xfrm>
          <a:prstGeom prst="ellipse">
            <a:avLst/>
          </a:prstGeom>
          <a:solidFill>
            <a:srgbClr val="6FCF97">
              <a:alpha val="15000"/>
            </a:srgbClr>
          </a:solidFill>
          <a:ln/>
        </p:spPr>
      </p:sp>
      <p:sp>
        <p:nvSpPr>
          <p:cNvPr id="4" name="Text 2"/>
          <p:cNvSpPr/>
          <p:nvPr/>
        </p:nvSpPr>
        <p:spPr>
          <a:xfrm>
            <a:off x="822960" y="2240280"/>
            <a:ext cx="10515600" cy="10058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INSIGHT ANALYSIS</a:t>
            </a:r>
            <a:endParaRPr lang="en-US" sz="4200" dirty="0"/>
          </a:p>
        </p:txBody>
      </p:sp>
      <p:sp>
        <p:nvSpPr>
          <p:cNvPr id="5" name="Text 3"/>
          <p:cNvSpPr/>
          <p:nvPr/>
        </p:nvSpPr>
        <p:spPr>
          <a:xfrm>
            <a:off x="822960" y="3154680"/>
            <a:ext cx="10515600" cy="548640"/>
          </a:xfrm>
          <a:prstGeom prst="rect">
            <a:avLst/>
          </a:prstGeom>
          <a:noFill/>
          <a:ln/>
        </p:spPr>
        <p:txBody>
          <a:bodyPr wrap="square" lIns="0" tIns="0" rIns="0" bIns="0" rtlCol="0" anchor="ctr"/>
          <a:lstStyle/>
          <a:p>
            <a:pPr indent="0" marL="0">
              <a:buNone/>
            </a:pPr>
            <a:r>
              <a:rPr lang="en-US" sz="1900" dirty="0">
                <a:solidFill>
                  <a:srgbClr val="6FCF97"/>
                </a:solidFill>
                <a:latin typeface="Calibri" pitchFamily="34" charset="0"/>
                <a:ea typeface="Calibri" pitchFamily="34" charset="-122"/>
                <a:cs typeface="Calibri" pitchFamily="34" charset="-120"/>
              </a:rPr>
              <a:t>Faktor-Faktor yang Berhubungan dengan Nilai Siswa</a:t>
            </a:r>
            <a:endParaRPr lang="en-US" sz="1900" dirty="0"/>
          </a:p>
        </p:txBody>
      </p:sp>
      <p:sp>
        <p:nvSpPr>
          <p:cNvPr id="6" name="Shape 4"/>
          <p:cNvSpPr/>
          <p:nvPr/>
        </p:nvSpPr>
        <p:spPr>
          <a:xfrm>
            <a:off x="868680" y="3840480"/>
            <a:ext cx="2011680" cy="0"/>
          </a:xfrm>
          <a:prstGeom prst="line">
            <a:avLst/>
          </a:prstGeom>
          <a:noFill/>
          <a:ln w="25400">
            <a:solidFill>
              <a:srgbClr val="1C7293"/>
            </a:solidFill>
            <a:prstDash val="solid"/>
          </a:ln>
        </p:spPr>
      </p:sp>
      <p:sp>
        <p:nvSpPr>
          <p:cNvPr id="7" name="Text 5"/>
          <p:cNvSpPr/>
          <p:nvPr/>
        </p:nvSpPr>
        <p:spPr>
          <a:xfrm>
            <a:off x="822960" y="4069080"/>
            <a:ext cx="8229600" cy="731520"/>
          </a:xfrm>
          <a:prstGeom prst="rect">
            <a:avLst/>
          </a:prstGeom>
          <a:noFill/>
          <a:ln/>
        </p:spPr>
        <p:txBody>
          <a:bodyPr wrap="square" lIns="0" tIns="0" rIns="0" bIns="0" rtlCol="0" anchor="ctr"/>
          <a:lstStyle/>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Analisis Statistik: Students Performance in Exams Dataset</a:t>
            </a:r>
            <a:endParaRPr lang="en-US" sz="1300" dirty="0"/>
          </a:p>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Uji perbandingan rata-rata (t-test) &amp; korelasi antar variabel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C7293"/>
          </a:solidFill>
          <a:ln/>
        </p:spPr>
      </p:sp>
      <p:sp>
        <p:nvSpPr>
          <p:cNvPr id="3" name="Text 1"/>
          <p:cNvSpPr/>
          <p:nvPr/>
        </p:nvSpPr>
        <p:spPr>
          <a:xfrm>
            <a:off x="548640" y="502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4" name="Text 2"/>
          <p:cNvSpPr/>
          <p:nvPr/>
        </p:nvSpPr>
        <p:spPr>
          <a:xfrm>
            <a:off x="1143000" y="502920"/>
            <a:ext cx="8229600" cy="457200"/>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PROGRAM MAKAN SIANG VS NILAI</a:t>
            </a:r>
            <a:endParaRPr lang="en-US" sz="1300" dirty="0"/>
          </a:p>
        </p:txBody>
      </p:sp>
      <p:sp>
        <p:nvSpPr>
          <p:cNvPr id="5" name="Text 3"/>
          <p:cNvSpPr/>
          <p:nvPr/>
        </p:nvSpPr>
        <p:spPr>
          <a:xfrm>
            <a:off x="548640" y="1051560"/>
            <a:ext cx="10515600" cy="548640"/>
          </a:xfrm>
          <a:prstGeom prst="rect">
            <a:avLst/>
          </a:prstGeom>
          <a:noFill/>
          <a:ln/>
        </p:spPr>
        <p:txBody>
          <a:bodyPr wrap="square" lIns="0" tIns="0" rIns="0" bIns="0" rtlCol="0" anchor="ctr"/>
          <a:lstStyle/>
          <a:p>
            <a:pPr indent="0" marL="0">
              <a:buNone/>
            </a:pPr>
            <a:r>
              <a:rPr lang="en-US" sz="2100" b="1" dirty="0">
                <a:solidFill>
                  <a:srgbClr val="0B2545"/>
                </a:solidFill>
                <a:latin typeface="Cambria" pitchFamily="34" charset="0"/>
                <a:ea typeface="Cambria" pitchFamily="34" charset="-122"/>
                <a:cs typeface="Cambria" pitchFamily="34" charset="-120"/>
              </a:rPr>
              <a:t>Siswa dengan Lunch Standard Nilainya Lebih Tinggi</a:t>
            </a:r>
            <a:endParaRPr lang="en-US" sz="2100" dirty="0"/>
          </a:p>
        </p:txBody>
      </p:sp>
      <p:pic>
        <p:nvPicPr>
          <p:cNvPr id="6" name="Image 0" descr="images/chart_lunch.png">    </p:cNvPr>
          <p:cNvPicPr>
            <a:picLocks noChangeAspect="1"/>
          </p:cNvPicPr>
          <p:nvPr/>
        </p:nvPicPr>
        <p:blipFill>
          <a:blip r:embed="rId1"/>
          <a:stretch>
            <a:fillRect/>
          </a:stretch>
        </p:blipFill>
        <p:spPr>
          <a:xfrm>
            <a:off x="548640" y="1783080"/>
            <a:ext cx="5486400" cy="4009292"/>
          </a:xfrm>
          <a:prstGeom prst="rect">
            <a:avLst/>
          </a:prstGeom>
        </p:spPr>
      </p:pic>
      <p:sp>
        <p:nvSpPr>
          <p:cNvPr id="7" name="Shape 4"/>
          <p:cNvSpPr/>
          <p:nvPr/>
        </p:nvSpPr>
        <p:spPr>
          <a:xfrm>
            <a:off x="6492240" y="1828800"/>
            <a:ext cx="2743200" cy="457200"/>
          </a:xfrm>
          <a:prstGeom prst="roundRect">
            <a:avLst>
              <a:gd name="adj" fmla="val 20000"/>
            </a:avLst>
          </a:prstGeom>
          <a:solidFill>
            <a:srgbClr val="1C7293">
              <a:alpha val="12000"/>
            </a:srgbClr>
          </a:solidFill>
          <a:ln w="12700">
            <a:solidFill>
              <a:srgbClr val="1C7293"/>
            </a:solidFill>
            <a:prstDash val="solid"/>
          </a:ln>
        </p:spPr>
      </p:sp>
      <p:sp>
        <p:nvSpPr>
          <p:cNvPr id="8" name="Text 5"/>
          <p:cNvSpPr/>
          <p:nvPr/>
        </p:nvSpPr>
        <p:spPr>
          <a:xfrm>
            <a:off x="6492240" y="1828800"/>
            <a:ext cx="2743200" cy="457200"/>
          </a:xfrm>
          <a:prstGeom prst="rect">
            <a:avLst/>
          </a:prstGeom>
          <a:noFill/>
          <a:ln/>
        </p:spPr>
        <p:txBody>
          <a:bodyPr wrap="square" lIns="0" tIns="0" rIns="0" bIns="0" rtlCol="0" anchor="ctr"/>
          <a:lstStyle/>
          <a:p>
            <a:pPr algn="ctr" indent="0" marL="0">
              <a:buNone/>
            </a:pPr>
            <a:r>
              <a:rPr lang="en-US" sz="1150" b="1" dirty="0">
                <a:solidFill>
                  <a:srgbClr val="1C7293"/>
                </a:solidFill>
                <a:latin typeface="Calibri" pitchFamily="34" charset="0"/>
                <a:ea typeface="Calibri" pitchFamily="34" charset="-122"/>
                <a:cs typeface="Calibri" pitchFamily="34" charset="-120"/>
              </a:rPr>
              <a:t>Selisih: +8.64 poin</a:t>
            </a:r>
            <a:endParaRPr lang="en-US" sz="1150" dirty="0"/>
          </a:p>
        </p:txBody>
      </p:sp>
      <p:sp>
        <p:nvSpPr>
          <p:cNvPr id="9" name="Shape 6"/>
          <p:cNvSpPr/>
          <p:nvPr/>
        </p:nvSpPr>
        <p:spPr>
          <a:xfrm>
            <a:off x="6492240" y="2423160"/>
            <a:ext cx="2743200" cy="457200"/>
          </a:xfrm>
          <a:prstGeom prst="roundRect">
            <a:avLst>
              <a:gd name="adj" fmla="val 20000"/>
            </a:avLst>
          </a:prstGeom>
          <a:solidFill>
            <a:srgbClr val="6FCF97">
              <a:alpha val="12000"/>
            </a:srgbClr>
          </a:solidFill>
          <a:ln w="12700">
            <a:solidFill>
              <a:srgbClr val="6FCF97"/>
            </a:solidFill>
            <a:prstDash val="solid"/>
          </a:ln>
        </p:spPr>
      </p:sp>
      <p:sp>
        <p:nvSpPr>
          <p:cNvPr id="10" name="Text 7"/>
          <p:cNvSpPr/>
          <p:nvPr/>
        </p:nvSpPr>
        <p:spPr>
          <a:xfrm>
            <a:off x="6492240" y="2423160"/>
            <a:ext cx="2743200" cy="457200"/>
          </a:xfrm>
          <a:prstGeom prst="rect">
            <a:avLst/>
          </a:prstGeom>
          <a:noFill/>
          <a:ln/>
        </p:spPr>
        <p:txBody>
          <a:bodyPr wrap="square" lIns="0" tIns="0" rIns="0" bIns="0" rtlCol="0" anchor="ctr"/>
          <a:lstStyle/>
          <a:p>
            <a:pPr algn="ctr" indent="0" marL="0">
              <a:buNone/>
            </a:pPr>
            <a:r>
              <a:rPr lang="en-US" sz="1150" b="1" dirty="0">
                <a:solidFill>
                  <a:srgbClr val="6FCF97"/>
                </a:solidFill>
                <a:latin typeface="Calibri" pitchFamily="34" charset="0"/>
                <a:ea typeface="Calibri" pitchFamily="34" charset="-122"/>
                <a:cs typeface="Calibri" pitchFamily="34" charset="-120"/>
              </a:rPr>
              <a:t>p-value &lt; 0.001</a:t>
            </a:r>
            <a:endParaRPr lang="en-US" sz="1150" dirty="0"/>
          </a:p>
        </p:txBody>
      </p:sp>
      <p:sp>
        <p:nvSpPr>
          <p:cNvPr id="11" name="Text 8"/>
          <p:cNvSpPr/>
          <p:nvPr/>
        </p:nvSpPr>
        <p:spPr>
          <a:xfrm>
            <a:off x="6492240" y="3108960"/>
            <a:ext cx="5120640" cy="2743200"/>
          </a:xfrm>
          <a:prstGeom prst="rect">
            <a:avLst/>
          </a:prstGeom>
          <a:noFill/>
          <a:ln/>
        </p:spPr>
        <p:txBody>
          <a:bodyPr wrap="square" lIns="0" tIns="0" rIns="0" bIns="0" rtlCol="0" anchor="ctr"/>
          <a:lstStyle/>
          <a:p>
            <a:pPr marL="342900" indent="-342900">
              <a:lnSpc>
                <a:spcPct val="130000"/>
              </a:lnSpc>
              <a:spcAft>
                <a:spcPts val="1000"/>
              </a:spcAft>
              <a:buSzPct val="100000"/>
              <a:buChar char="•"/>
            </a:pPr>
            <a:r>
              <a:rPr lang="en-US" sz="1200" dirty="0">
                <a:solidFill>
                  <a:srgbClr val="5B6B79"/>
                </a:solidFill>
                <a:latin typeface="Calibri" pitchFamily="34" charset="0"/>
                <a:ea typeface="Calibri" pitchFamily="34" charset="-122"/>
                <a:cs typeface="Calibri" pitchFamily="34" charset="-120"/>
              </a:rPr>
              <a:t>Siswa dengan lunch standard rata-rata mendapat nilai 70.8, sedangkan siswa lunch free/reduced hanya 62.2.</a:t>
            </a:r>
            <a:endParaRPr lang="en-US" sz="1200" dirty="0"/>
          </a:p>
          <a:p>
            <a:pPr marL="342900" indent="-342900">
              <a:lnSpc>
                <a:spcPct val="130000"/>
              </a:lnSpc>
              <a:spcAft>
                <a:spcPts val="1000"/>
              </a:spcAft>
              <a:buSzPct val="100000"/>
              <a:buChar char="•"/>
            </a:pPr>
            <a:r>
              <a:rPr lang="en-US" sz="1200" dirty="0">
                <a:solidFill>
                  <a:srgbClr val="5B6B79"/>
                </a:solidFill>
                <a:latin typeface="Calibri" pitchFamily="34" charset="0"/>
                <a:ea typeface="Calibri" pitchFamily="34" charset="-122"/>
                <a:cs typeface="Calibri" pitchFamily="34" charset="-120"/>
              </a:rPr>
              <a:t>Selisih 8.6 poin ini signifikan secara statistik (t-test, p &lt; 0.001) — bukan kebetulan.</a:t>
            </a:r>
            <a:endParaRPr lang="en-US" sz="1200" dirty="0"/>
          </a:p>
          <a:p>
            <a:pPr marL="342900" indent="-342900">
              <a:lnSpc>
                <a:spcPct val="130000"/>
              </a:lnSpc>
              <a:spcAft>
                <a:spcPts val="1000"/>
              </a:spcAft>
              <a:buSzPct val="100000"/>
              <a:buChar char="•"/>
            </a:pPr>
            <a:r>
              <a:rPr lang="en-US" sz="1200" dirty="0">
                <a:solidFill>
                  <a:srgbClr val="5B6B79"/>
                </a:solidFill>
                <a:latin typeface="Calibri" pitchFamily="34" charset="0"/>
                <a:ea typeface="Calibri" pitchFamily="34" charset="-122"/>
                <a:cs typeface="Calibri" pitchFamily="34" charset="-120"/>
              </a:rPr>
              <a:t>Lunch sering dipakai sebagai proxy status ekonomi keluarga — mengindikasikan kesenjangan ekonomi berdampak pada performa akademik.</a:t>
            </a:r>
            <a:endParaRPr lang="en-US" sz="1200" dirty="0"/>
          </a:p>
        </p:txBody>
      </p:sp>
      <p:sp>
        <p:nvSpPr>
          <p:cNvPr id="12" name="Text 9"/>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Students Performance in Exams — Insight Analysis</a:t>
            </a:r>
            <a:endParaRPr lang="en-US" sz="900" dirty="0"/>
          </a:p>
        </p:txBody>
      </p:sp>
      <p:sp>
        <p:nvSpPr>
          <p:cNvPr id="13" name="Text 10"/>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C7293"/>
          </a:solidFill>
          <a:ln/>
        </p:spPr>
      </p:sp>
      <p:sp>
        <p:nvSpPr>
          <p:cNvPr id="3" name="Text 1"/>
          <p:cNvSpPr/>
          <p:nvPr/>
        </p:nvSpPr>
        <p:spPr>
          <a:xfrm>
            <a:off x="548640" y="502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4" name="Text 2"/>
          <p:cNvSpPr/>
          <p:nvPr/>
        </p:nvSpPr>
        <p:spPr>
          <a:xfrm>
            <a:off x="1143000" y="502920"/>
            <a:ext cx="8229600" cy="457200"/>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KURSUS PERSIAPAN VS NILAI</a:t>
            </a:r>
            <a:endParaRPr lang="en-US" sz="1300" dirty="0"/>
          </a:p>
        </p:txBody>
      </p:sp>
      <p:sp>
        <p:nvSpPr>
          <p:cNvPr id="5" name="Text 3"/>
          <p:cNvSpPr/>
          <p:nvPr/>
        </p:nvSpPr>
        <p:spPr>
          <a:xfrm>
            <a:off x="548640" y="1051560"/>
            <a:ext cx="10515600" cy="548640"/>
          </a:xfrm>
          <a:prstGeom prst="rect">
            <a:avLst/>
          </a:prstGeom>
          <a:noFill/>
          <a:ln/>
        </p:spPr>
        <p:txBody>
          <a:bodyPr wrap="square" lIns="0" tIns="0" rIns="0" bIns="0" rtlCol="0" anchor="ctr"/>
          <a:lstStyle/>
          <a:p>
            <a:pPr indent="0" marL="0">
              <a:buNone/>
            </a:pPr>
            <a:r>
              <a:rPr lang="en-US" sz="2100" b="1" dirty="0">
                <a:solidFill>
                  <a:srgbClr val="0B2545"/>
                </a:solidFill>
                <a:latin typeface="Cambria" pitchFamily="34" charset="0"/>
                <a:ea typeface="Cambria" pitchFamily="34" charset="-122"/>
                <a:cs typeface="Cambria" pitchFamily="34" charset="-120"/>
              </a:rPr>
              <a:t>Kursus Persiapan Terbukti Menaikkan Nilai Ujian</a:t>
            </a:r>
            <a:endParaRPr lang="en-US" sz="2100" dirty="0"/>
          </a:p>
        </p:txBody>
      </p:sp>
      <p:pic>
        <p:nvPicPr>
          <p:cNvPr id="6" name="Image 0" descr="images/chart_testprep.png">    </p:cNvPr>
          <p:cNvPicPr>
            <a:picLocks noChangeAspect="1"/>
          </p:cNvPicPr>
          <p:nvPr/>
        </p:nvPicPr>
        <p:blipFill>
          <a:blip r:embed="rId1"/>
          <a:stretch>
            <a:fillRect/>
          </a:stretch>
        </p:blipFill>
        <p:spPr>
          <a:xfrm>
            <a:off x="548640" y="1783080"/>
            <a:ext cx="5486400" cy="4009292"/>
          </a:xfrm>
          <a:prstGeom prst="rect">
            <a:avLst/>
          </a:prstGeom>
        </p:spPr>
      </p:pic>
      <p:sp>
        <p:nvSpPr>
          <p:cNvPr id="7" name="Shape 4"/>
          <p:cNvSpPr/>
          <p:nvPr/>
        </p:nvSpPr>
        <p:spPr>
          <a:xfrm>
            <a:off x="6492240" y="1828800"/>
            <a:ext cx="2743200" cy="457200"/>
          </a:xfrm>
          <a:prstGeom prst="roundRect">
            <a:avLst>
              <a:gd name="adj" fmla="val 20000"/>
            </a:avLst>
          </a:prstGeom>
          <a:solidFill>
            <a:srgbClr val="1C7293">
              <a:alpha val="12000"/>
            </a:srgbClr>
          </a:solidFill>
          <a:ln w="12700">
            <a:solidFill>
              <a:srgbClr val="1C7293"/>
            </a:solidFill>
            <a:prstDash val="solid"/>
          </a:ln>
        </p:spPr>
      </p:sp>
      <p:sp>
        <p:nvSpPr>
          <p:cNvPr id="8" name="Text 5"/>
          <p:cNvSpPr/>
          <p:nvPr/>
        </p:nvSpPr>
        <p:spPr>
          <a:xfrm>
            <a:off x="6492240" y="1828800"/>
            <a:ext cx="2743200" cy="457200"/>
          </a:xfrm>
          <a:prstGeom prst="rect">
            <a:avLst/>
          </a:prstGeom>
          <a:noFill/>
          <a:ln/>
        </p:spPr>
        <p:txBody>
          <a:bodyPr wrap="square" lIns="0" tIns="0" rIns="0" bIns="0" rtlCol="0" anchor="ctr"/>
          <a:lstStyle/>
          <a:p>
            <a:pPr algn="ctr" indent="0" marL="0">
              <a:buNone/>
            </a:pPr>
            <a:r>
              <a:rPr lang="en-US" sz="1150" b="1" dirty="0">
                <a:solidFill>
                  <a:srgbClr val="1C7293"/>
                </a:solidFill>
                <a:latin typeface="Calibri" pitchFamily="34" charset="0"/>
                <a:ea typeface="Calibri" pitchFamily="34" charset="-122"/>
                <a:cs typeface="Calibri" pitchFamily="34" charset="-120"/>
              </a:rPr>
              <a:t>Selisih: +7.63 poin</a:t>
            </a:r>
            <a:endParaRPr lang="en-US" sz="1150" dirty="0"/>
          </a:p>
        </p:txBody>
      </p:sp>
      <p:sp>
        <p:nvSpPr>
          <p:cNvPr id="9" name="Shape 6"/>
          <p:cNvSpPr/>
          <p:nvPr/>
        </p:nvSpPr>
        <p:spPr>
          <a:xfrm>
            <a:off x="6492240" y="2423160"/>
            <a:ext cx="2743200" cy="457200"/>
          </a:xfrm>
          <a:prstGeom prst="roundRect">
            <a:avLst>
              <a:gd name="adj" fmla="val 20000"/>
            </a:avLst>
          </a:prstGeom>
          <a:solidFill>
            <a:srgbClr val="6FCF97">
              <a:alpha val="12000"/>
            </a:srgbClr>
          </a:solidFill>
          <a:ln w="12700">
            <a:solidFill>
              <a:srgbClr val="6FCF97"/>
            </a:solidFill>
            <a:prstDash val="solid"/>
          </a:ln>
        </p:spPr>
      </p:sp>
      <p:sp>
        <p:nvSpPr>
          <p:cNvPr id="10" name="Text 7"/>
          <p:cNvSpPr/>
          <p:nvPr/>
        </p:nvSpPr>
        <p:spPr>
          <a:xfrm>
            <a:off x="6492240" y="2423160"/>
            <a:ext cx="2743200" cy="457200"/>
          </a:xfrm>
          <a:prstGeom prst="rect">
            <a:avLst/>
          </a:prstGeom>
          <a:noFill/>
          <a:ln/>
        </p:spPr>
        <p:txBody>
          <a:bodyPr wrap="square" lIns="0" tIns="0" rIns="0" bIns="0" rtlCol="0" anchor="ctr"/>
          <a:lstStyle/>
          <a:p>
            <a:pPr algn="ctr" indent="0" marL="0">
              <a:buNone/>
            </a:pPr>
            <a:r>
              <a:rPr lang="en-US" sz="1150" b="1" dirty="0">
                <a:solidFill>
                  <a:srgbClr val="6FCF97"/>
                </a:solidFill>
                <a:latin typeface="Calibri" pitchFamily="34" charset="0"/>
                <a:ea typeface="Calibri" pitchFamily="34" charset="-122"/>
                <a:cs typeface="Calibri" pitchFamily="34" charset="-120"/>
              </a:rPr>
              <a:t>p-value &lt; 0.001</a:t>
            </a:r>
            <a:endParaRPr lang="en-US" sz="1150" dirty="0"/>
          </a:p>
        </p:txBody>
      </p:sp>
      <p:sp>
        <p:nvSpPr>
          <p:cNvPr id="11" name="Text 8"/>
          <p:cNvSpPr/>
          <p:nvPr/>
        </p:nvSpPr>
        <p:spPr>
          <a:xfrm>
            <a:off x="6492240" y="3108960"/>
            <a:ext cx="5120640" cy="2743200"/>
          </a:xfrm>
          <a:prstGeom prst="rect">
            <a:avLst/>
          </a:prstGeom>
          <a:noFill/>
          <a:ln/>
        </p:spPr>
        <p:txBody>
          <a:bodyPr wrap="square" lIns="0" tIns="0" rIns="0" bIns="0" rtlCol="0" anchor="ctr"/>
          <a:lstStyle/>
          <a:p>
            <a:pPr marL="342900" indent="-342900">
              <a:lnSpc>
                <a:spcPct val="130000"/>
              </a:lnSpc>
              <a:spcAft>
                <a:spcPts val="1000"/>
              </a:spcAft>
              <a:buSzPct val="100000"/>
              <a:buChar char="•"/>
            </a:pPr>
            <a:r>
              <a:rPr lang="en-US" sz="1200" dirty="0">
                <a:solidFill>
                  <a:srgbClr val="5B6B79"/>
                </a:solidFill>
                <a:latin typeface="Calibri" pitchFamily="34" charset="0"/>
                <a:ea typeface="Calibri" pitchFamily="34" charset="-122"/>
                <a:cs typeface="Calibri" pitchFamily="34" charset="-120"/>
              </a:rPr>
              <a:t>Siswa yang menyelesaikan test preparation course rata-rata dapat nilai 72.7, dibanding 65.0 bagi yang tidak ikut.</a:t>
            </a:r>
            <a:endParaRPr lang="en-US" sz="1200" dirty="0"/>
          </a:p>
          <a:p>
            <a:pPr marL="342900" indent="-342900">
              <a:lnSpc>
                <a:spcPct val="130000"/>
              </a:lnSpc>
              <a:spcAft>
                <a:spcPts val="1000"/>
              </a:spcAft>
              <a:buSzPct val="100000"/>
              <a:buChar char="•"/>
            </a:pPr>
            <a:r>
              <a:rPr lang="en-US" sz="1200" dirty="0">
                <a:solidFill>
                  <a:srgbClr val="5B6B79"/>
                </a:solidFill>
                <a:latin typeface="Calibri" pitchFamily="34" charset="0"/>
                <a:ea typeface="Calibri" pitchFamily="34" charset="-122"/>
                <a:cs typeface="Calibri" pitchFamily="34" charset="-120"/>
              </a:rPr>
              <a:t>Perbedaan 7.6 poin ini juga signifikan secara statistik (p &lt; 0.001).</a:t>
            </a:r>
            <a:endParaRPr lang="en-US" sz="1200" dirty="0"/>
          </a:p>
          <a:p>
            <a:pPr marL="342900" indent="-342900">
              <a:lnSpc>
                <a:spcPct val="130000"/>
              </a:lnSpc>
              <a:spcAft>
                <a:spcPts val="1000"/>
              </a:spcAft>
              <a:buSzPct val="100000"/>
              <a:buChar char="•"/>
            </a:pPr>
            <a:r>
              <a:rPr lang="en-US" sz="1200" dirty="0">
                <a:solidFill>
                  <a:srgbClr val="5B6B79"/>
                </a:solidFill>
                <a:latin typeface="Calibri" pitchFamily="34" charset="0"/>
                <a:ea typeface="Calibri" pitchFamily="34" charset="-122"/>
                <a:cs typeface="Calibri" pitchFamily="34" charset="-120"/>
              </a:rPr>
              <a:t>64% siswa belum mengikuti kursus ini — artinya masih ada ruang besar untuk peningkatan nilai lewat program ini.</a:t>
            </a:r>
            <a:endParaRPr lang="en-US" sz="1200" dirty="0"/>
          </a:p>
        </p:txBody>
      </p:sp>
      <p:sp>
        <p:nvSpPr>
          <p:cNvPr id="12" name="Text 9"/>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Students Performance in Exams — Insight Analysis</a:t>
            </a:r>
            <a:endParaRPr lang="en-US" sz="900" dirty="0"/>
          </a:p>
        </p:txBody>
      </p:sp>
      <p:sp>
        <p:nvSpPr>
          <p:cNvPr id="13" name="Text 10"/>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C7293"/>
          </a:solidFill>
          <a:ln/>
        </p:spPr>
      </p:sp>
      <p:sp>
        <p:nvSpPr>
          <p:cNvPr id="3" name="Text 1"/>
          <p:cNvSpPr/>
          <p:nvPr/>
        </p:nvSpPr>
        <p:spPr>
          <a:xfrm>
            <a:off x="548640" y="502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4" name="Text 2"/>
          <p:cNvSpPr/>
          <p:nvPr/>
        </p:nvSpPr>
        <p:spPr>
          <a:xfrm>
            <a:off x="1143000" y="502920"/>
            <a:ext cx="8229600" cy="457200"/>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EFEK GABUNGAN</a:t>
            </a:r>
            <a:endParaRPr lang="en-US" sz="1300" dirty="0"/>
          </a:p>
        </p:txBody>
      </p:sp>
      <p:sp>
        <p:nvSpPr>
          <p:cNvPr id="5" name="Text 3"/>
          <p:cNvSpPr/>
          <p:nvPr/>
        </p:nvSpPr>
        <p:spPr>
          <a:xfrm>
            <a:off x="548640" y="1051560"/>
            <a:ext cx="10515600" cy="548640"/>
          </a:xfrm>
          <a:prstGeom prst="rect">
            <a:avLst/>
          </a:prstGeom>
          <a:noFill/>
          <a:ln/>
        </p:spPr>
        <p:txBody>
          <a:bodyPr wrap="square" lIns="0" tIns="0" rIns="0" bIns="0" rtlCol="0" anchor="ctr"/>
          <a:lstStyle/>
          <a:p>
            <a:pPr indent="0" marL="0">
              <a:buNone/>
            </a:pPr>
            <a:r>
              <a:rPr lang="en-US" sz="2100" b="1" dirty="0">
                <a:solidFill>
                  <a:srgbClr val="0B2545"/>
                </a:solidFill>
                <a:latin typeface="Cambria" pitchFamily="34" charset="0"/>
                <a:ea typeface="Cambria" pitchFamily="34" charset="-122"/>
                <a:cs typeface="Cambria" pitchFamily="34" charset="-120"/>
              </a:rPr>
              <a:t>Efek Gabungan: Lunch + Kursus Persiapan</a:t>
            </a:r>
            <a:endParaRPr lang="en-US" sz="2100" dirty="0"/>
          </a:p>
        </p:txBody>
      </p:sp>
      <p:pic>
        <p:nvPicPr>
          <p:cNvPr id="6" name="Image 0" descr="images/chart_combo.png">    </p:cNvPr>
          <p:cNvPicPr>
            <a:picLocks noChangeAspect="1"/>
          </p:cNvPicPr>
          <p:nvPr/>
        </p:nvPicPr>
        <p:blipFill>
          <a:blip r:embed="rId1"/>
          <a:stretch>
            <a:fillRect/>
          </a:stretch>
        </p:blipFill>
        <p:spPr>
          <a:xfrm>
            <a:off x="548640" y="1783080"/>
            <a:ext cx="6949440" cy="4169664"/>
          </a:xfrm>
          <a:prstGeom prst="rect">
            <a:avLst/>
          </a:prstGeom>
        </p:spPr>
      </p:pic>
      <p:sp>
        <p:nvSpPr>
          <p:cNvPr id="7" name="Shape 4"/>
          <p:cNvSpPr/>
          <p:nvPr/>
        </p:nvSpPr>
        <p:spPr>
          <a:xfrm>
            <a:off x="7863840" y="1920240"/>
            <a:ext cx="3749040" cy="3566160"/>
          </a:xfrm>
          <a:prstGeom prst="roundRect">
            <a:avLst>
              <a:gd name="adj" fmla="val 2564"/>
            </a:avLst>
          </a:prstGeom>
          <a:solidFill>
            <a:srgbClr val="0B2545"/>
          </a:solidFill>
          <a:ln/>
        </p:spPr>
      </p:sp>
      <p:sp>
        <p:nvSpPr>
          <p:cNvPr id="8" name="Text 5"/>
          <p:cNvSpPr/>
          <p:nvPr/>
        </p:nvSpPr>
        <p:spPr>
          <a:xfrm>
            <a:off x="8138160" y="2148840"/>
            <a:ext cx="3200400" cy="365760"/>
          </a:xfrm>
          <a:prstGeom prst="rect">
            <a:avLst/>
          </a:prstGeom>
          <a:noFill/>
          <a:ln/>
        </p:spPr>
        <p:txBody>
          <a:bodyPr wrap="square" lIns="0" tIns="0" rIns="0" bIns="0" rtlCol="0" anchor="ctr"/>
          <a:lstStyle/>
          <a:p>
            <a:pPr indent="0" marL="0">
              <a:buNone/>
            </a:pPr>
            <a:r>
              <a:rPr lang="en-US" sz="1300" b="1" dirty="0">
                <a:solidFill>
                  <a:srgbClr val="6FCF97"/>
                </a:solidFill>
                <a:latin typeface="Calibri" pitchFamily="34" charset="0"/>
                <a:ea typeface="Calibri" pitchFamily="34" charset="-122"/>
                <a:cs typeface="Calibri" pitchFamily="34" charset="-120"/>
              </a:rPr>
              <a:t>Kesenjangan Terbesar</a:t>
            </a:r>
            <a:endParaRPr lang="en-US" sz="1300" dirty="0"/>
          </a:p>
        </p:txBody>
      </p:sp>
      <p:sp>
        <p:nvSpPr>
          <p:cNvPr id="9" name="Text 6"/>
          <p:cNvSpPr/>
          <p:nvPr/>
        </p:nvSpPr>
        <p:spPr>
          <a:xfrm>
            <a:off x="8138160" y="2514600"/>
            <a:ext cx="320040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28.1%</a:t>
            </a:r>
            <a:endParaRPr lang="en-US" sz="4000" dirty="0"/>
          </a:p>
        </p:txBody>
      </p:sp>
      <p:sp>
        <p:nvSpPr>
          <p:cNvPr id="10" name="Text 7"/>
          <p:cNvSpPr/>
          <p:nvPr/>
        </p:nvSpPr>
        <p:spPr>
          <a:xfrm>
            <a:off x="8138160" y="3246120"/>
            <a:ext cx="320040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(16.6 poin)</a:t>
            </a:r>
            <a:endParaRPr lang="en-US" sz="1200" dirty="0"/>
          </a:p>
        </p:txBody>
      </p:sp>
      <p:sp>
        <p:nvSpPr>
          <p:cNvPr id="11" name="Text 8"/>
          <p:cNvSpPr/>
          <p:nvPr/>
        </p:nvSpPr>
        <p:spPr>
          <a:xfrm>
            <a:off x="8138160" y="3703320"/>
            <a:ext cx="3200400" cy="1645920"/>
          </a:xfrm>
          <a:prstGeom prst="rect">
            <a:avLst/>
          </a:prstGeom>
          <a:noFill/>
          <a:ln/>
        </p:spPr>
        <p:txBody>
          <a:bodyPr wrap="square" lIns="0" tIns="0" rIns="0" bIns="0" rtlCol="0" anchor="ctr"/>
          <a:lstStyle/>
          <a:p>
            <a:pPr indent="0" marL="0">
              <a:lnSpc>
                <a:spcPct val="130000"/>
              </a:lnSpc>
              <a:buNone/>
            </a:pPr>
            <a:r>
              <a:rPr lang="en-US" sz="1150" dirty="0">
                <a:solidFill>
                  <a:srgbClr val="E8EEF3"/>
                </a:solidFill>
                <a:latin typeface="Calibri" pitchFamily="34" charset="0"/>
                <a:ea typeface="Calibri" pitchFamily="34" charset="-122"/>
                <a:cs typeface="Calibri" pitchFamily="34" charset="-120"/>
              </a:rPr>
              <a:t>Antara siswa 'standard lunch + sudah ikut kursus' (75.5) vs 'free/reduced lunch + belum ikut kursus' (58.9).</a:t>
            </a:r>
            <a:endParaRPr lang="en-US" sz="1150" dirty="0"/>
          </a:p>
        </p:txBody>
      </p:sp>
      <p:sp>
        <p:nvSpPr>
          <p:cNvPr id="12" name="Text 9"/>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Students Performance in Exams — Insight Analysis</a:t>
            </a:r>
            <a:endParaRPr lang="en-US" sz="900" dirty="0"/>
          </a:p>
        </p:txBody>
      </p:sp>
      <p:sp>
        <p:nvSpPr>
          <p:cNvPr id="13" name="Text 10"/>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C7293"/>
          </a:solidFill>
          <a:ln/>
        </p:spPr>
      </p:sp>
      <p:sp>
        <p:nvSpPr>
          <p:cNvPr id="3" name="Text 1"/>
          <p:cNvSpPr/>
          <p:nvPr/>
        </p:nvSpPr>
        <p:spPr>
          <a:xfrm>
            <a:off x="548640" y="502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4" name="Text 2"/>
          <p:cNvSpPr/>
          <p:nvPr/>
        </p:nvSpPr>
        <p:spPr>
          <a:xfrm>
            <a:off x="1143000" y="502920"/>
            <a:ext cx="8229600" cy="457200"/>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PENDIDIKAN ORANG TUA VS NILAI</a:t>
            </a:r>
            <a:endParaRPr lang="en-US" sz="1300" dirty="0"/>
          </a:p>
        </p:txBody>
      </p:sp>
      <p:sp>
        <p:nvSpPr>
          <p:cNvPr id="5" name="Text 3"/>
          <p:cNvSpPr/>
          <p:nvPr/>
        </p:nvSpPr>
        <p:spPr>
          <a:xfrm>
            <a:off x="548640" y="1051560"/>
            <a:ext cx="10972800" cy="548640"/>
          </a:xfrm>
          <a:prstGeom prst="rect">
            <a:avLst/>
          </a:prstGeom>
          <a:noFill/>
          <a:ln/>
        </p:spPr>
        <p:txBody>
          <a:bodyPr wrap="square" lIns="0" tIns="0" rIns="0" bIns="0" rtlCol="0" anchor="ctr"/>
          <a:lstStyle/>
          <a:p>
            <a:pPr indent="0" marL="0">
              <a:buNone/>
            </a:pPr>
            <a:r>
              <a:rPr lang="en-US" sz="1900" b="1" dirty="0">
                <a:solidFill>
                  <a:srgbClr val="0B2545"/>
                </a:solidFill>
                <a:latin typeface="Cambria" pitchFamily="34" charset="0"/>
                <a:ea typeface="Cambria" pitchFamily="34" charset="-122"/>
                <a:cs typeface="Cambria" pitchFamily="34" charset="-120"/>
              </a:rPr>
              <a:t>Semakin Tinggi Pendidikan Orang Tua, Semakin Tinggi Nilai Anak</a:t>
            </a:r>
            <a:endParaRPr lang="en-US" sz="1900" dirty="0"/>
          </a:p>
        </p:txBody>
      </p:sp>
      <p:pic>
        <p:nvPicPr>
          <p:cNvPr id="6" name="Image 0" descr="images/chart_parented.png">    </p:cNvPr>
          <p:cNvPicPr>
            <a:picLocks noChangeAspect="1"/>
          </p:cNvPicPr>
          <p:nvPr/>
        </p:nvPicPr>
        <p:blipFill>
          <a:blip r:embed="rId1"/>
          <a:stretch>
            <a:fillRect/>
          </a:stretch>
        </p:blipFill>
        <p:spPr>
          <a:xfrm>
            <a:off x="2042008" y="1783080"/>
            <a:ext cx="8107680" cy="3840480"/>
          </a:xfrm>
          <a:prstGeom prst="rect">
            <a:avLst/>
          </a:prstGeom>
        </p:spPr>
      </p:pic>
      <p:sp>
        <p:nvSpPr>
          <p:cNvPr id="7" name="Text 4"/>
          <p:cNvSpPr/>
          <p:nvPr/>
        </p:nvSpPr>
        <p:spPr>
          <a:xfrm>
            <a:off x="548640" y="5760720"/>
            <a:ext cx="10972800" cy="822960"/>
          </a:xfrm>
          <a:prstGeom prst="rect">
            <a:avLst/>
          </a:prstGeom>
          <a:noFill/>
          <a:ln/>
        </p:spPr>
        <p:txBody>
          <a:bodyPr wrap="square" lIns="0" tIns="0" rIns="0" bIns="0" rtlCol="0" anchor="ctr"/>
          <a:lstStyle/>
          <a:p>
            <a:pPr marL="342900" indent="-342900">
              <a:lnSpc>
                <a:spcPct val="130000"/>
              </a:lnSpc>
              <a:buSzPct val="100000"/>
              <a:buChar char="•"/>
            </a:pPr>
            <a:r>
              <a:rPr lang="en-US" sz="1200" dirty="0">
                <a:solidFill>
                  <a:srgbClr val="5B6B79"/>
                </a:solidFill>
                <a:latin typeface="Calibri" pitchFamily="34" charset="0"/>
                <a:ea typeface="Calibri" pitchFamily="34" charset="-122"/>
                <a:cs typeface="Calibri" pitchFamily="34" charset="-120"/>
              </a:rPr>
              <a:t>Tren naik konsisten: dari some high school (65.1) ke master's degree (73.6) — kenaikan 8.5 poin (13%).   </a:t>
            </a:r>
            <a:endParaRPr lang="en-US" sz="1200" dirty="0"/>
          </a:p>
          <a:p>
            <a:pPr marL="342900" indent="-342900">
              <a:lnSpc>
                <a:spcPct val="130000"/>
              </a:lnSpc>
              <a:buSzPct val="100000"/>
              <a:buChar char="•"/>
            </a:pPr>
            <a:r>
              <a:rPr lang="en-US" sz="1200" dirty="0">
                <a:solidFill>
                  <a:srgbClr val="5B6B79"/>
                </a:solidFill>
                <a:latin typeface="Calibri" pitchFamily="34" charset="0"/>
                <a:ea typeface="Calibri" pitchFamily="34" charset="-122"/>
                <a:cs typeface="Calibri" pitchFamily="34" charset="-120"/>
              </a:rPr>
              <a:t>Korelasi positif (r = 0.21) antara level pendidikan orang tua dan rata-rata nilai anak.</a:t>
            </a:r>
            <a:endParaRPr lang="en-US" sz="1200" dirty="0"/>
          </a:p>
        </p:txBody>
      </p:sp>
      <p:sp>
        <p:nvSpPr>
          <p:cNvPr id="8" name="Text 5"/>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Students Performance in Exams — Insight Analysis</a:t>
            </a:r>
            <a:endParaRPr lang="en-US" sz="900" dirty="0"/>
          </a:p>
        </p:txBody>
      </p:sp>
      <p:sp>
        <p:nvSpPr>
          <p:cNvPr id="9" name="Text 6"/>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C7293"/>
          </a:solidFill>
          <a:ln/>
        </p:spPr>
      </p:sp>
      <p:sp>
        <p:nvSpPr>
          <p:cNvPr id="3" name="Text 1"/>
          <p:cNvSpPr/>
          <p:nvPr/>
        </p:nvSpPr>
        <p:spPr>
          <a:xfrm>
            <a:off x="548640" y="502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 name="Text 2"/>
          <p:cNvSpPr/>
          <p:nvPr/>
        </p:nvSpPr>
        <p:spPr>
          <a:xfrm>
            <a:off x="1143000" y="502920"/>
            <a:ext cx="8229600" cy="457200"/>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GENDER VS MATA PELAJARAN</a:t>
            </a:r>
            <a:endParaRPr lang="en-US" sz="1300" dirty="0"/>
          </a:p>
        </p:txBody>
      </p:sp>
      <p:sp>
        <p:nvSpPr>
          <p:cNvPr id="5" name="Text 3"/>
          <p:cNvSpPr/>
          <p:nvPr/>
        </p:nvSpPr>
        <p:spPr>
          <a:xfrm>
            <a:off x="548640" y="1051560"/>
            <a:ext cx="10515600" cy="548640"/>
          </a:xfrm>
          <a:prstGeom prst="rect">
            <a:avLst/>
          </a:prstGeom>
          <a:noFill/>
          <a:ln/>
        </p:spPr>
        <p:txBody>
          <a:bodyPr wrap="square" lIns="0" tIns="0" rIns="0" bIns="0" rtlCol="0" anchor="ctr"/>
          <a:lstStyle/>
          <a:p>
            <a:pPr indent="0" marL="0">
              <a:buNone/>
            </a:pPr>
            <a:r>
              <a:rPr lang="en-US" sz="2100" b="1" dirty="0">
                <a:solidFill>
                  <a:srgbClr val="0B2545"/>
                </a:solidFill>
                <a:latin typeface="Cambria" pitchFamily="34" charset="0"/>
                <a:ea typeface="Cambria" pitchFamily="34" charset="-122"/>
                <a:cs typeface="Cambria" pitchFamily="34" charset="-120"/>
              </a:rPr>
              <a:t>Pola Gender Berbeda di Tiap Mata Pelajaran</a:t>
            </a:r>
            <a:endParaRPr lang="en-US" sz="2100" dirty="0"/>
          </a:p>
        </p:txBody>
      </p:sp>
      <p:pic>
        <p:nvPicPr>
          <p:cNvPr id="6" name="Image 0" descr="images/chart_gender.png">    </p:cNvPr>
          <p:cNvPicPr>
            <a:picLocks noChangeAspect="1"/>
          </p:cNvPicPr>
          <p:nvPr/>
        </p:nvPicPr>
        <p:blipFill>
          <a:blip r:embed="rId1"/>
          <a:stretch>
            <a:fillRect/>
          </a:stretch>
        </p:blipFill>
        <p:spPr>
          <a:xfrm>
            <a:off x="548640" y="1783080"/>
            <a:ext cx="6258560" cy="4023360"/>
          </a:xfrm>
          <a:prstGeom prst="rect">
            <a:avLst/>
          </a:prstGeom>
        </p:spPr>
      </p:pic>
      <p:sp>
        <p:nvSpPr>
          <p:cNvPr id="7" name="Text 4"/>
          <p:cNvSpPr/>
          <p:nvPr/>
        </p:nvSpPr>
        <p:spPr>
          <a:xfrm>
            <a:off x="7315200" y="2103120"/>
            <a:ext cx="4297680" cy="3200400"/>
          </a:xfrm>
          <a:prstGeom prst="rect">
            <a:avLst/>
          </a:prstGeom>
          <a:noFill/>
          <a:ln/>
        </p:spPr>
        <p:txBody>
          <a:bodyPr wrap="square" lIns="0" tIns="0" rIns="0" bIns="0" rtlCol="0" anchor="ctr"/>
          <a:lstStyle/>
          <a:p>
            <a:pPr marL="342900" indent="-342900">
              <a:lnSpc>
                <a:spcPct val="135000"/>
              </a:lnSpc>
              <a:spcAft>
                <a:spcPts val="1000"/>
              </a:spcAft>
              <a:buSzPct val="100000"/>
              <a:buChar char="•"/>
            </a:pPr>
            <a:r>
              <a:rPr lang="en-US" sz="1200" dirty="0">
                <a:solidFill>
                  <a:srgbClr val="5B6B79"/>
                </a:solidFill>
                <a:latin typeface="Calibri" pitchFamily="34" charset="0"/>
                <a:ea typeface="Calibri" pitchFamily="34" charset="-122"/>
                <a:cs typeface="Calibri" pitchFamily="34" charset="-120"/>
              </a:rPr>
              <a:t>Laki-laki unggul di Math (+5.1 poin, p &lt; 0.001)</a:t>
            </a:r>
            <a:endParaRPr lang="en-US" sz="1200" dirty="0"/>
          </a:p>
          <a:p>
            <a:pPr marL="342900" indent="-342900">
              <a:lnSpc>
                <a:spcPct val="135000"/>
              </a:lnSpc>
              <a:spcAft>
                <a:spcPts val="1000"/>
              </a:spcAft>
              <a:buSzPct val="100000"/>
              <a:buChar char="•"/>
            </a:pPr>
            <a:r>
              <a:rPr lang="en-US" sz="1200" dirty="0">
                <a:solidFill>
                  <a:srgbClr val="5B6B79"/>
                </a:solidFill>
                <a:latin typeface="Calibri" pitchFamily="34" charset="0"/>
                <a:ea typeface="Calibri" pitchFamily="34" charset="-122"/>
                <a:cs typeface="Calibri" pitchFamily="34" charset="-120"/>
              </a:rPr>
              <a:t>Perempuan unggul jauh di Reading (+7.1) dan Writing (+9.2), keduanya p &lt; 0.001</a:t>
            </a:r>
            <a:endParaRPr lang="en-US" sz="1200" dirty="0"/>
          </a:p>
          <a:p>
            <a:pPr marL="342900" indent="-342900">
              <a:lnSpc>
                <a:spcPct val="135000"/>
              </a:lnSpc>
              <a:spcAft>
                <a:spcPts val="1000"/>
              </a:spcAft>
              <a:buSzPct val="100000"/>
              <a:buChar char="•"/>
            </a:pPr>
            <a:r>
              <a:rPr lang="en-US" sz="1200" dirty="0">
                <a:solidFill>
                  <a:srgbClr val="5B6B79"/>
                </a:solidFill>
                <a:latin typeface="Calibri" pitchFamily="34" charset="0"/>
                <a:ea typeface="Calibri" pitchFamily="34" charset="-122"/>
                <a:cs typeface="Calibri" pitchFamily="34" charset="-120"/>
              </a:rPr>
              <a:t>Pola ini konsisten dengan riset pendidikan umum: gap terbesar justru di kemampuan menulis.</a:t>
            </a:r>
            <a:endParaRPr lang="en-US" sz="1200" dirty="0"/>
          </a:p>
        </p:txBody>
      </p:sp>
      <p:sp>
        <p:nvSpPr>
          <p:cNvPr id="8" name="Text 5"/>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Students Performance in Exams — Insight Analysis</a:t>
            </a:r>
            <a:endParaRPr lang="en-US" sz="900" dirty="0"/>
          </a:p>
        </p:txBody>
      </p:sp>
      <p:sp>
        <p:nvSpPr>
          <p:cNvPr id="9" name="Text 6"/>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C7293"/>
          </a:solidFill>
          <a:ln/>
        </p:spPr>
      </p:sp>
      <p:sp>
        <p:nvSpPr>
          <p:cNvPr id="3" name="Text 1"/>
          <p:cNvSpPr/>
          <p:nvPr/>
        </p:nvSpPr>
        <p:spPr>
          <a:xfrm>
            <a:off x="548640" y="502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4" name="Text 2"/>
          <p:cNvSpPr/>
          <p:nvPr/>
        </p:nvSpPr>
        <p:spPr>
          <a:xfrm>
            <a:off x="1143000" y="502920"/>
            <a:ext cx="8229600" cy="457200"/>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KORELASI ANTAR NILAI</a:t>
            </a:r>
            <a:endParaRPr lang="en-US" sz="1300" dirty="0"/>
          </a:p>
        </p:txBody>
      </p:sp>
      <p:sp>
        <p:nvSpPr>
          <p:cNvPr id="5" name="Text 3"/>
          <p:cNvSpPr/>
          <p:nvPr/>
        </p:nvSpPr>
        <p:spPr>
          <a:xfrm>
            <a:off x="548640" y="1051560"/>
            <a:ext cx="10515600" cy="548640"/>
          </a:xfrm>
          <a:prstGeom prst="rect">
            <a:avLst/>
          </a:prstGeom>
          <a:noFill/>
          <a:ln/>
        </p:spPr>
        <p:txBody>
          <a:bodyPr wrap="square" lIns="0" tIns="0" rIns="0" bIns="0" rtlCol="0" anchor="ctr"/>
          <a:lstStyle/>
          <a:p>
            <a:pPr indent="0" marL="0">
              <a:buNone/>
            </a:pPr>
            <a:r>
              <a:rPr lang="en-US" sz="2100" b="1" dirty="0">
                <a:solidFill>
                  <a:srgbClr val="0B2545"/>
                </a:solidFill>
                <a:latin typeface="Cambria" pitchFamily="34" charset="0"/>
                <a:ea typeface="Cambria" pitchFamily="34" charset="-122"/>
                <a:cs typeface="Cambria" pitchFamily="34" charset="-120"/>
              </a:rPr>
              <a:t>Reading &amp; Writing Sangat Berkorelasi</a:t>
            </a:r>
            <a:endParaRPr lang="en-US" sz="2100" dirty="0"/>
          </a:p>
        </p:txBody>
      </p:sp>
      <p:pic>
        <p:nvPicPr>
          <p:cNvPr id="6" name="Image 0" descr="images/chart_corr.png">    </p:cNvPr>
          <p:cNvPicPr>
            <a:picLocks noChangeAspect="1"/>
          </p:cNvPicPr>
          <p:nvPr/>
        </p:nvPicPr>
        <p:blipFill>
          <a:blip r:embed="rId1"/>
          <a:stretch>
            <a:fillRect/>
          </a:stretch>
        </p:blipFill>
        <p:spPr>
          <a:xfrm>
            <a:off x="548640" y="1783080"/>
            <a:ext cx="4754880" cy="4106487"/>
          </a:xfrm>
          <a:prstGeom prst="rect">
            <a:avLst/>
          </a:prstGeom>
        </p:spPr>
      </p:pic>
      <p:sp>
        <p:nvSpPr>
          <p:cNvPr id="7" name="Text 4"/>
          <p:cNvSpPr/>
          <p:nvPr/>
        </p:nvSpPr>
        <p:spPr>
          <a:xfrm>
            <a:off x="5760720" y="2011680"/>
            <a:ext cx="5760720" cy="1645920"/>
          </a:xfrm>
          <a:prstGeom prst="rect">
            <a:avLst/>
          </a:prstGeom>
          <a:noFill/>
          <a:ln/>
        </p:spPr>
        <p:txBody>
          <a:bodyPr wrap="square" lIns="0" tIns="0" rIns="0" bIns="0" rtlCol="0" anchor="ctr"/>
          <a:lstStyle/>
          <a:p>
            <a:pPr marL="342900" indent="-342900">
              <a:lnSpc>
                <a:spcPct val="140000"/>
              </a:lnSpc>
              <a:spcAft>
                <a:spcPts val="800"/>
              </a:spcAft>
              <a:buSzPct val="100000"/>
              <a:buChar char="•"/>
            </a:pPr>
            <a:r>
              <a:rPr lang="en-US" sz="1300" dirty="0">
                <a:solidFill>
                  <a:srgbClr val="5B6B79"/>
                </a:solidFill>
                <a:latin typeface="Calibri" pitchFamily="34" charset="0"/>
                <a:ea typeface="Calibri" pitchFamily="34" charset="-122"/>
                <a:cs typeface="Calibri" pitchFamily="34" charset="-120"/>
              </a:rPr>
              <a:t>Reading ↔ Writing: r = 0.955 (sangat kuat)</a:t>
            </a:r>
            <a:endParaRPr lang="en-US" sz="1300" dirty="0"/>
          </a:p>
          <a:p>
            <a:pPr marL="342900" indent="-342900">
              <a:lnSpc>
                <a:spcPct val="140000"/>
              </a:lnSpc>
              <a:spcAft>
                <a:spcPts val="800"/>
              </a:spcAft>
              <a:buSzPct val="100000"/>
              <a:buChar char="•"/>
            </a:pPr>
            <a:r>
              <a:rPr lang="en-US" sz="1300" dirty="0">
                <a:solidFill>
                  <a:srgbClr val="5B6B79"/>
                </a:solidFill>
                <a:latin typeface="Calibri" pitchFamily="34" charset="0"/>
                <a:ea typeface="Calibri" pitchFamily="34" charset="-122"/>
                <a:cs typeface="Calibri" pitchFamily="34" charset="-120"/>
              </a:rPr>
              <a:t>Math ↔ Reading: r = 0.818 (kuat)</a:t>
            </a:r>
            <a:endParaRPr lang="en-US" sz="1300" dirty="0"/>
          </a:p>
          <a:p>
            <a:pPr marL="342900" indent="-342900">
              <a:lnSpc>
                <a:spcPct val="140000"/>
              </a:lnSpc>
              <a:spcAft>
                <a:spcPts val="800"/>
              </a:spcAft>
              <a:buSzPct val="100000"/>
              <a:buChar char="•"/>
            </a:pPr>
            <a:r>
              <a:rPr lang="en-US" sz="1300" dirty="0">
                <a:solidFill>
                  <a:srgbClr val="5B6B79"/>
                </a:solidFill>
                <a:latin typeface="Calibri" pitchFamily="34" charset="0"/>
                <a:ea typeface="Calibri" pitchFamily="34" charset="-122"/>
                <a:cs typeface="Calibri" pitchFamily="34" charset="-120"/>
              </a:rPr>
              <a:t>Math ↔ Writing: r = 0.803 (kuat)</a:t>
            </a:r>
            <a:endParaRPr lang="en-US" sz="1300" dirty="0"/>
          </a:p>
        </p:txBody>
      </p:sp>
      <p:sp>
        <p:nvSpPr>
          <p:cNvPr id="8" name="Shape 5"/>
          <p:cNvSpPr/>
          <p:nvPr/>
        </p:nvSpPr>
        <p:spPr>
          <a:xfrm>
            <a:off x="5760720" y="3749040"/>
            <a:ext cx="5760720" cy="1828800"/>
          </a:xfrm>
          <a:prstGeom prst="roundRect">
            <a:avLst>
              <a:gd name="adj" fmla="val 5000"/>
            </a:avLst>
          </a:prstGeom>
          <a:solidFill>
            <a:srgbClr val="E9F5F0"/>
          </a:solidFill>
          <a:ln/>
        </p:spPr>
      </p:sp>
      <p:sp>
        <p:nvSpPr>
          <p:cNvPr id="9" name="Text 6"/>
          <p:cNvSpPr/>
          <p:nvPr/>
        </p:nvSpPr>
        <p:spPr>
          <a:xfrm>
            <a:off x="6035040" y="3931920"/>
            <a:ext cx="5212080" cy="27432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Artinya</a:t>
            </a:r>
            <a:endParaRPr lang="en-US" sz="1250" dirty="0"/>
          </a:p>
        </p:txBody>
      </p:sp>
      <p:sp>
        <p:nvSpPr>
          <p:cNvPr id="10" name="Text 7"/>
          <p:cNvSpPr/>
          <p:nvPr/>
        </p:nvSpPr>
        <p:spPr>
          <a:xfrm>
            <a:off x="6035040" y="4251960"/>
            <a:ext cx="5212080" cy="1234440"/>
          </a:xfrm>
          <a:prstGeom prst="rect">
            <a:avLst/>
          </a:prstGeom>
          <a:noFill/>
          <a:ln/>
        </p:spPr>
        <p:txBody>
          <a:bodyPr wrap="square" lIns="0" tIns="0" rIns="0" bIns="0" rtlCol="0" anchor="ctr"/>
          <a:lstStyle/>
          <a:p>
            <a:pPr indent="0" marL="0">
              <a:lnSpc>
                <a:spcPct val="130000"/>
              </a:lnSpc>
              <a:buNone/>
            </a:pPr>
            <a:r>
              <a:rPr lang="en-US" sz="1150" dirty="0">
                <a:solidFill>
                  <a:srgbClr val="5B6B79"/>
                </a:solidFill>
                <a:latin typeface="Calibri" pitchFamily="34" charset="0"/>
                <a:ea typeface="Calibri" pitchFamily="34" charset="-122"/>
                <a:cs typeface="Calibri" pitchFamily="34" charset="-120"/>
              </a:rPr>
              <a:t>Siswa yang kuat di satu bidang bahasa (reading) hampir pasti juga kuat di bidang bahasa lain (writing). Math relatif lebih independen — kemampuan numerik tidak selalu berjalan beriringan dengan kemampuan bahasa.</a:t>
            </a:r>
            <a:endParaRPr lang="en-US" sz="11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Students Performance in Exams — Insight Analysis</a:t>
            </a:r>
            <a:endParaRPr lang="en-US" sz="900" dirty="0"/>
          </a:p>
        </p:txBody>
      </p:sp>
      <p:sp>
        <p:nvSpPr>
          <p:cNvPr id="12" name="Text 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1C7293">
              <a:alpha val="20000"/>
            </a:srgbClr>
          </a:solidFill>
          <a:ln/>
        </p:spPr>
      </p:sp>
      <p:sp>
        <p:nvSpPr>
          <p:cNvPr id="3" name="Text 1"/>
          <p:cNvSpPr/>
          <p:nvPr/>
        </p:nvSpPr>
        <p:spPr>
          <a:xfrm>
            <a:off x="548640" y="502920"/>
            <a:ext cx="914400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KESIMPULAN &amp; INSIGHT BISNIS</a:t>
            </a:r>
            <a:endParaRPr lang="en-US" sz="2400" dirty="0"/>
          </a:p>
        </p:txBody>
      </p:sp>
      <p:sp>
        <p:nvSpPr>
          <p:cNvPr id="4" name="Shape 2"/>
          <p:cNvSpPr/>
          <p:nvPr/>
        </p:nvSpPr>
        <p:spPr>
          <a:xfrm>
            <a:off x="548640" y="1325880"/>
            <a:ext cx="329184" cy="329184"/>
          </a:xfrm>
          <a:prstGeom prst="ellipse">
            <a:avLst/>
          </a:prstGeom>
          <a:solidFill>
            <a:srgbClr val="6FCF97"/>
          </a:solidFill>
          <a:ln/>
        </p:spPr>
      </p:sp>
      <p:sp>
        <p:nvSpPr>
          <p:cNvPr id="5" name="Text 3"/>
          <p:cNvSpPr/>
          <p:nvPr/>
        </p:nvSpPr>
        <p:spPr>
          <a:xfrm>
            <a:off x="548640" y="1325880"/>
            <a:ext cx="329184" cy="329184"/>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005840" y="1261872"/>
            <a:ext cx="4892040" cy="365760"/>
          </a:xfrm>
          <a:prstGeom prst="rect">
            <a:avLst/>
          </a:prstGeom>
          <a:noFill/>
          <a:ln/>
        </p:spPr>
        <p:txBody>
          <a:bodyPr wrap="square" lIns="0" tIns="0" rIns="0" bIns="0" rtlCol="0" anchor="ctr"/>
          <a:lstStyle/>
          <a:p>
            <a:pPr indent="0" marL="0">
              <a:buNone/>
            </a:pPr>
            <a:r>
              <a:rPr lang="en-US" sz="1300" b="1" dirty="0">
                <a:solidFill>
                  <a:srgbClr val="6FCF97"/>
                </a:solidFill>
                <a:latin typeface="Calibri" pitchFamily="34" charset="0"/>
                <a:ea typeface="Calibri" pitchFamily="34" charset="-122"/>
                <a:cs typeface="Calibri" pitchFamily="34" charset="-120"/>
              </a:rPr>
              <a:t>Program Test Preparation Course</a:t>
            </a:r>
            <a:endParaRPr lang="en-US" sz="1300" dirty="0"/>
          </a:p>
        </p:txBody>
      </p:sp>
      <p:sp>
        <p:nvSpPr>
          <p:cNvPr id="7" name="Text 5"/>
          <p:cNvSpPr/>
          <p:nvPr/>
        </p:nvSpPr>
        <p:spPr>
          <a:xfrm>
            <a:off x="1005840" y="1645920"/>
            <a:ext cx="4892040" cy="1188720"/>
          </a:xfrm>
          <a:prstGeom prst="rect">
            <a:avLst/>
          </a:prstGeom>
          <a:noFill/>
          <a:ln/>
        </p:spPr>
        <p:txBody>
          <a:bodyPr wrap="square" lIns="0" tIns="0" rIns="0" bIns="0" rtlCol="0" anchor="ctr"/>
          <a:lstStyle/>
          <a:p>
            <a:pPr indent="0" marL="0">
              <a:lnSpc>
                <a:spcPct val="130000"/>
              </a:lnSpc>
              <a:buNone/>
            </a:pPr>
            <a:r>
              <a:rPr lang="en-US" sz="1100" dirty="0">
                <a:solidFill>
                  <a:srgbClr val="E8EEF3"/>
                </a:solidFill>
                <a:latin typeface="Calibri" pitchFamily="34" charset="0"/>
                <a:ea typeface="Calibri" pitchFamily="34" charset="-122"/>
                <a:cs typeface="Calibri" pitchFamily="34" charset="-120"/>
              </a:rPr>
              <a:t>Naikkan nilai 7.6 poin (p&lt;0.001), tapi 64% siswa belum ikut → peluang besar ekspansi program ini.</a:t>
            </a:r>
            <a:endParaRPr lang="en-US" sz="1100" dirty="0"/>
          </a:p>
        </p:txBody>
      </p:sp>
      <p:sp>
        <p:nvSpPr>
          <p:cNvPr id="8" name="Shape 6"/>
          <p:cNvSpPr/>
          <p:nvPr/>
        </p:nvSpPr>
        <p:spPr>
          <a:xfrm>
            <a:off x="6217920" y="1325880"/>
            <a:ext cx="329184" cy="329184"/>
          </a:xfrm>
          <a:prstGeom prst="ellipse">
            <a:avLst/>
          </a:prstGeom>
          <a:solidFill>
            <a:srgbClr val="6FCF97"/>
          </a:solidFill>
          <a:ln/>
        </p:spPr>
      </p:sp>
      <p:sp>
        <p:nvSpPr>
          <p:cNvPr id="9" name="Text 7"/>
          <p:cNvSpPr/>
          <p:nvPr/>
        </p:nvSpPr>
        <p:spPr>
          <a:xfrm>
            <a:off x="6217920" y="1325880"/>
            <a:ext cx="329184" cy="329184"/>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6675120" y="1261872"/>
            <a:ext cx="4892040" cy="365760"/>
          </a:xfrm>
          <a:prstGeom prst="rect">
            <a:avLst/>
          </a:prstGeom>
          <a:noFill/>
          <a:ln/>
        </p:spPr>
        <p:txBody>
          <a:bodyPr wrap="square" lIns="0" tIns="0" rIns="0" bIns="0" rtlCol="0" anchor="ctr"/>
          <a:lstStyle/>
          <a:p>
            <a:pPr indent="0" marL="0">
              <a:buNone/>
            </a:pPr>
            <a:r>
              <a:rPr lang="en-US" sz="1300" b="1" dirty="0">
                <a:solidFill>
                  <a:srgbClr val="6FCF97"/>
                </a:solidFill>
                <a:latin typeface="Calibri" pitchFamily="34" charset="0"/>
                <a:ea typeface="Calibri" pitchFamily="34" charset="-122"/>
                <a:cs typeface="Calibri" pitchFamily="34" charset="-120"/>
              </a:rPr>
              <a:t>Kesenjangan Ekonomi (Lunch)</a:t>
            </a:r>
            <a:endParaRPr lang="en-US" sz="1300" dirty="0"/>
          </a:p>
        </p:txBody>
      </p:sp>
      <p:sp>
        <p:nvSpPr>
          <p:cNvPr id="11" name="Text 9"/>
          <p:cNvSpPr/>
          <p:nvPr/>
        </p:nvSpPr>
        <p:spPr>
          <a:xfrm>
            <a:off x="6675120" y="1645920"/>
            <a:ext cx="4892040" cy="1188720"/>
          </a:xfrm>
          <a:prstGeom prst="rect">
            <a:avLst/>
          </a:prstGeom>
          <a:noFill/>
          <a:ln/>
        </p:spPr>
        <p:txBody>
          <a:bodyPr wrap="square" lIns="0" tIns="0" rIns="0" bIns="0" rtlCol="0" anchor="ctr"/>
          <a:lstStyle/>
          <a:p>
            <a:pPr indent="0" marL="0">
              <a:lnSpc>
                <a:spcPct val="130000"/>
              </a:lnSpc>
              <a:buNone/>
            </a:pPr>
            <a:r>
              <a:rPr lang="en-US" sz="1100" dirty="0">
                <a:solidFill>
                  <a:srgbClr val="E8EEF3"/>
                </a:solidFill>
                <a:latin typeface="Calibri" pitchFamily="34" charset="0"/>
                <a:ea typeface="Calibri" pitchFamily="34" charset="-122"/>
                <a:cs typeface="Calibri" pitchFamily="34" charset="-120"/>
              </a:rPr>
              <a:t>Siswa lunch standard unggul 8.6 poin → subsidi/bantuan makan siang berpotensi jadi intervensi akademik, bukan cuma sosial.</a:t>
            </a:r>
            <a:endParaRPr lang="en-US" sz="1100" dirty="0"/>
          </a:p>
        </p:txBody>
      </p:sp>
      <p:sp>
        <p:nvSpPr>
          <p:cNvPr id="12" name="Shape 10"/>
          <p:cNvSpPr/>
          <p:nvPr/>
        </p:nvSpPr>
        <p:spPr>
          <a:xfrm>
            <a:off x="548640" y="3017520"/>
            <a:ext cx="329184" cy="329184"/>
          </a:xfrm>
          <a:prstGeom prst="ellipse">
            <a:avLst/>
          </a:prstGeom>
          <a:solidFill>
            <a:srgbClr val="6FCF97"/>
          </a:solidFill>
          <a:ln/>
        </p:spPr>
      </p:sp>
      <p:sp>
        <p:nvSpPr>
          <p:cNvPr id="13" name="Text 11"/>
          <p:cNvSpPr/>
          <p:nvPr/>
        </p:nvSpPr>
        <p:spPr>
          <a:xfrm>
            <a:off x="548640" y="3017520"/>
            <a:ext cx="329184" cy="329184"/>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005840" y="2953512"/>
            <a:ext cx="4892040" cy="365760"/>
          </a:xfrm>
          <a:prstGeom prst="rect">
            <a:avLst/>
          </a:prstGeom>
          <a:noFill/>
          <a:ln/>
        </p:spPr>
        <p:txBody>
          <a:bodyPr wrap="square" lIns="0" tIns="0" rIns="0" bIns="0" rtlCol="0" anchor="ctr"/>
          <a:lstStyle/>
          <a:p>
            <a:pPr indent="0" marL="0">
              <a:buNone/>
            </a:pPr>
            <a:r>
              <a:rPr lang="en-US" sz="1300" b="1" dirty="0">
                <a:solidFill>
                  <a:srgbClr val="6FCF97"/>
                </a:solidFill>
                <a:latin typeface="Calibri" pitchFamily="34" charset="0"/>
                <a:ea typeface="Calibri" pitchFamily="34" charset="-122"/>
                <a:cs typeface="Calibri" pitchFamily="34" charset="-120"/>
              </a:rPr>
              <a:t>Efek Kumulatif</a:t>
            </a:r>
            <a:endParaRPr lang="en-US" sz="1300" dirty="0"/>
          </a:p>
        </p:txBody>
      </p:sp>
      <p:sp>
        <p:nvSpPr>
          <p:cNvPr id="15" name="Text 13"/>
          <p:cNvSpPr/>
          <p:nvPr/>
        </p:nvSpPr>
        <p:spPr>
          <a:xfrm>
            <a:off x="1005840" y="3337560"/>
            <a:ext cx="4892040" cy="1188720"/>
          </a:xfrm>
          <a:prstGeom prst="rect">
            <a:avLst/>
          </a:prstGeom>
          <a:noFill/>
          <a:ln/>
        </p:spPr>
        <p:txBody>
          <a:bodyPr wrap="square" lIns="0" tIns="0" rIns="0" bIns="0" rtlCol="0" anchor="ctr"/>
          <a:lstStyle/>
          <a:p>
            <a:pPr indent="0" marL="0">
              <a:lnSpc>
                <a:spcPct val="130000"/>
              </a:lnSpc>
              <a:buNone/>
            </a:pPr>
            <a:r>
              <a:rPr lang="en-US" sz="1100" dirty="0">
                <a:solidFill>
                  <a:srgbClr val="E8EEF3"/>
                </a:solidFill>
                <a:latin typeface="Calibri" pitchFamily="34" charset="0"/>
                <a:ea typeface="Calibri" pitchFamily="34" charset="-122"/>
                <a:cs typeface="Calibri" pitchFamily="34" charset="-120"/>
              </a:rPr>
              <a:t>Kombinasi lunch standard + kursus selesai = gap 28% (16.6 poin) vs kombinasi paling rendah → faktor-faktor ini saling memperkuat.</a:t>
            </a:r>
            <a:endParaRPr lang="en-US" sz="1100" dirty="0"/>
          </a:p>
        </p:txBody>
      </p:sp>
      <p:sp>
        <p:nvSpPr>
          <p:cNvPr id="16" name="Shape 14"/>
          <p:cNvSpPr/>
          <p:nvPr/>
        </p:nvSpPr>
        <p:spPr>
          <a:xfrm>
            <a:off x="6217920" y="3017520"/>
            <a:ext cx="329184" cy="329184"/>
          </a:xfrm>
          <a:prstGeom prst="ellipse">
            <a:avLst/>
          </a:prstGeom>
          <a:solidFill>
            <a:srgbClr val="6FCF97"/>
          </a:solidFill>
          <a:ln/>
        </p:spPr>
      </p:sp>
      <p:sp>
        <p:nvSpPr>
          <p:cNvPr id="17" name="Text 15"/>
          <p:cNvSpPr/>
          <p:nvPr/>
        </p:nvSpPr>
        <p:spPr>
          <a:xfrm>
            <a:off x="6217920" y="3017520"/>
            <a:ext cx="329184" cy="329184"/>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6675120" y="2953512"/>
            <a:ext cx="4892040" cy="365760"/>
          </a:xfrm>
          <a:prstGeom prst="rect">
            <a:avLst/>
          </a:prstGeom>
          <a:noFill/>
          <a:ln/>
        </p:spPr>
        <p:txBody>
          <a:bodyPr wrap="square" lIns="0" tIns="0" rIns="0" bIns="0" rtlCol="0" anchor="ctr"/>
          <a:lstStyle/>
          <a:p>
            <a:pPr indent="0" marL="0">
              <a:buNone/>
            </a:pPr>
            <a:r>
              <a:rPr lang="en-US" sz="1300" b="1" dirty="0">
                <a:solidFill>
                  <a:srgbClr val="6FCF97"/>
                </a:solidFill>
                <a:latin typeface="Calibri" pitchFamily="34" charset="0"/>
                <a:ea typeface="Calibri" pitchFamily="34" charset="-122"/>
                <a:cs typeface="Calibri" pitchFamily="34" charset="-120"/>
              </a:rPr>
              <a:t>Pendidikan Orang Tua</a:t>
            </a:r>
            <a:endParaRPr lang="en-US" sz="1300" dirty="0"/>
          </a:p>
        </p:txBody>
      </p:sp>
      <p:sp>
        <p:nvSpPr>
          <p:cNvPr id="19" name="Text 17"/>
          <p:cNvSpPr/>
          <p:nvPr/>
        </p:nvSpPr>
        <p:spPr>
          <a:xfrm>
            <a:off x="6675120" y="3337560"/>
            <a:ext cx="4892040" cy="1188720"/>
          </a:xfrm>
          <a:prstGeom prst="rect">
            <a:avLst/>
          </a:prstGeom>
          <a:noFill/>
          <a:ln/>
        </p:spPr>
        <p:txBody>
          <a:bodyPr wrap="square" lIns="0" tIns="0" rIns="0" bIns="0" rtlCol="0" anchor="ctr"/>
          <a:lstStyle/>
          <a:p>
            <a:pPr indent="0" marL="0">
              <a:lnSpc>
                <a:spcPct val="130000"/>
              </a:lnSpc>
              <a:buNone/>
            </a:pPr>
            <a:r>
              <a:rPr lang="en-US" sz="1100" dirty="0">
                <a:solidFill>
                  <a:srgbClr val="E8EEF3"/>
                </a:solidFill>
                <a:latin typeface="Calibri" pitchFamily="34" charset="0"/>
                <a:ea typeface="Calibri" pitchFamily="34" charset="-122"/>
                <a:cs typeface="Calibri" pitchFamily="34" charset="-120"/>
              </a:rPr>
              <a:t>Kenaikan 13% dari SMA ke S2 → program pelibatan orang tua (parental engagement) bisa jadi intervensi jangka panjang.</a:t>
            </a:r>
            <a:endParaRPr lang="en-US" sz="1100" dirty="0"/>
          </a:p>
        </p:txBody>
      </p:sp>
      <p:sp>
        <p:nvSpPr>
          <p:cNvPr id="20" name="Shape 18"/>
          <p:cNvSpPr/>
          <p:nvPr/>
        </p:nvSpPr>
        <p:spPr>
          <a:xfrm>
            <a:off x="548640" y="4709160"/>
            <a:ext cx="329184" cy="329184"/>
          </a:xfrm>
          <a:prstGeom prst="ellipse">
            <a:avLst/>
          </a:prstGeom>
          <a:solidFill>
            <a:srgbClr val="6FCF97"/>
          </a:solidFill>
          <a:ln/>
        </p:spPr>
      </p:sp>
      <p:sp>
        <p:nvSpPr>
          <p:cNvPr id="21" name="Text 19"/>
          <p:cNvSpPr/>
          <p:nvPr/>
        </p:nvSpPr>
        <p:spPr>
          <a:xfrm>
            <a:off x="548640" y="4709160"/>
            <a:ext cx="329184" cy="329184"/>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005840" y="4645152"/>
            <a:ext cx="4892040" cy="365760"/>
          </a:xfrm>
          <a:prstGeom prst="rect">
            <a:avLst/>
          </a:prstGeom>
          <a:noFill/>
          <a:ln/>
        </p:spPr>
        <p:txBody>
          <a:bodyPr wrap="square" lIns="0" tIns="0" rIns="0" bIns="0" rtlCol="0" anchor="ctr"/>
          <a:lstStyle/>
          <a:p>
            <a:pPr indent="0" marL="0">
              <a:buNone/>
            </a:pPr>
            <a:r>
              <a:rPr lang="en-US" sz="1300" b="1" dirty="0">
                <a:solidFill>
                  <a:srgbClr val="6FCF97"/>
                </a:solidFill>
                <a:latin typeface="Calibri" pitchFamily="34" charset="0"/>
                <a:ea typeface="Calibri" pitchFamily="34" charset="-122"/>
                <a:cs typeface="Calibri" pitchFamily="34" charset="-120"/>
              </a:rPr>
              <a:t>Gap Gender per Subjek</a:t>
            </a:r>
            <a:endParaRPr lang="en-US" sz="1300" dirty="0"/>
          </a:p>
        </p:txBody>
      </p:sp>
      <p:sp>
        <p:nvSpPr>
          <p:cNvPr id="23" name="Text 21"/>
          <p:cNvSpPr/>
          <p:nvPr/>
        </p:nvSpPr>
        <p:spPr>
          <a:xfrm>
            <a:off x="1005840" y="5029200"/>
            <a:ext cx="4892040" cy="1188720"/>
          </a:xfrm>
          <a:prstGeom prst="rect">
            <a:avLst/>
          </a:prstGeom>
          <a:noFill/>
          <a:ln/>
        </p:spPr>
        <p:txBody>
          <a:bodyPr wrap="square" lIns="0" tIns="0" rIns="0" bIns="0" rtlCol="0" anchor="ctr"/>
          <a:lstStyle/>
          <a:p>
            <a:pPr indent="0" marL="0">
              <a:lnSpc>
                <a:spcPct val="130000"/>
              </a:lnSpc>
              <a:buNone/>
            </a:pPr>
            <a:r>
              <a:rPr lang="en-US" sz="1100" dirty="0">
                <a:solidFill>
                  <a:srgbClr val="E8EEF3"/>
                </a:solidFill>
                <a:latin typeface="Calibri" pitchFamily="34" charset="0"/>
                <a:ea typeface="Calibri" pitchFamily="34" charset="-122"/>
                <a:cs typeface="Calibri" pitchFamily="34" charset="-120"/>
              </a:rPr>
              <a:t>Laki-laki unggul math, perempuan unggul reading/writing → program remedial perlu disesuaikan per gender &amp; subjek.</a:t>
            </a:r>
            <a:endParaRPr lang="en-US" sz="1100" dirty="0"/>
          </a:p>
        </p:txBody>
      </p:sp>
      <p:sp>
        <p:nvSpPr>
          <p:cNvPr id="24" name="Shape 22"/>
          <p:cNvSpPr/>
          <p:nvPr/>
        </p:nvSpPr>
        <p:spPr>
          <a:xfrm>
            <a:off x="6217920" y="4709160"/>
            <a:ext cx="329184" cy="329184"/>
          </a:xfrm>
          <a:prstGeom prst="ellipse">
            <a:avLst/>
          </a:prstGeom>
          <a:solidFill>
            <a:srgbClr val="6FCF97"/>
          </a:solidFill>
          <a:ln/>
        </p:spPr>
      </p:sp>
      <p:sp>
        <p:nvSpPr>
          <p:cNvPr id="25" name="Text 23"/>
          <p:cNvSpPr/>
          <p:nvPr/>
        </p:nvSpPr>
        <p:spPr>
          <a:xfrm>
            <a:off x="6217920" y="4709160"/>
            <a:ext cx="329184" cy="329184"/>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6</a:t>
            </a:r>
            <a:endParaRPr lang="en-US" sz="1300" dirty="0"/>
          </a:p>
        </p:txBody>
      </p:sp>
      <p:sp>
        <p:nvSpPr>
          <p:cNvPr id="26" name="Text 24"/>
          <p:cNvSpPr/>
          <p:nvPr/>
        </p:nvSpPr>
        <p:spPr>
          <a:xfrm>
            <a:off x="6675120" y="4645152"/>
            <a:ext cx="4892040" cy="365760"/>
          </a:xfrm>
          <a:prstGeom prst="rect">
            <a:avLst/>
          </a:prstGeom>
          <a:noFill/>
          <a:ln/>
        </p:spPr>
        <p:txBody>
          <a:bodyPr wrap="square" lIns="0" tIns="0" rIns="0" bIns="0" rtlCol="0" anchor="ctr"/>
          <a:lstStyle/>
          <a:p>
            <a:pPr indent="0" marL="0">
              <a:buNone/>
            </a:pPr>
            <a:r>
              <a:rPr lang="en-US" sz="1300" b="1" dirty="0">
                <a:solidFill>
                  <a:srgbClr val="6FCF97"/>
                </a:solidFill>
                <a:latin typeface="Calibri" pitchFamily="34" charset="0"/>
                <a:ea typeface="Calibri" pitchFamily="34" charset="-122"/>
                <a:cs typeface="Calibri" pitchFamily="34" charset="-120"/>
              </a:rPr>
              <a:t>Reading-Writing Terkait Erat</a:t>
            </a:r>
            <a:endParaRPr lang="en-US" sz="1300" dirty="0"/>
          </a:p>
        </p:txBody>
      </p:sp>
      <p:sp>
        <p:nvSpPr>
          <p:cNvPr id="27" name="Text 25"/>
          <p:cNvSpPr/>
          <p:nvPr/>
        </p:nvSpPr>
        <p:spPr>
          <a:xfrm>
            <a:off x="6675120" y="5029200"/>
            <a:ext cx="4892040" cy="1188720"/>
          </a:xfrm>
          <a:prstGeom prst="rect">
            <a:avLst/>
          </a:prstGeom>
          <a:noFill/>
          <a:ln/>
        </p:spPr>
        <p:txBody>
          <a:bodyPr wrap="square" lIns="0" tIns="0" rIns="0" bIns="0" rtlCol="0" anchor="ctr"/>
          <a:lstStyle/>
          <a:p>
            <a:pPr indent="0" marL="0">
              <a:lnSpc>
                <a:spcPct val="130000"/>
              </a:lnSpc>
              <a:buNone/>
            </a:pPr>
            <a:r>
              <a:rPr lang="en-US" sz="1100" dirty="0">
                <a:solidFill>
                  <a:srgbClr val="E8EEF3"/>
                </a:solidFill>
                <a:latin typeface="Calibri" pitchFamily="34" charset="0"/>
                <a:ea typeface="Calibri" pitchFamily="34" charset="-122"/>
                <a:cs typeface="Calibri" pitchFamily="34" charset="-120"/>
              </a:rPr>
              <a:t>Korelasi 0.955 → investasi di satu kemampuan bahasa cenderung ikut mengangkat kemampuan bahasa lainnya.</a:t>
            </a:r>
            <a:endParaRPr lang="en-US" sz="1100" dirty="0"/>
          </a:p>
        </p:txBody>
      </p:sp>
      <p:sp>
        <p:nvSpPr>
          <p:cNvPr id="28" name="Text 26"/>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9DB4C9"/>
                </a:solidFill>
                <a:latin typeface="Calibri" pitchFamily="34" charset="0"/>
                <a:ea typeface="Calibri" pitchFamily="34" charset="-122"/>
                <a:cs typeface="Calibri" pitchFamily="34" charset="-120"/>
              </a:rPr>
              <a:t>Students Performance in Exams — Insight Analysis</a:t>
            </a:r>
            <a:endParaRPr lang="en-US" sz="900" dirty="0"/>
          </a:p>
        </p:txBody>
      </p:sp>
      <p:sp>
        <p:nvSpPr>
          <p:cNvPr id="29" name="Text 27"/>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9DB4C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Insight Analysis - Students Performance in Exams</dc:title>
  <dc:subject>PptxGenJS Presentation</dc:subject>
  <dc:creator>Data Understanding Task</dc:creator>
  <cp:lastModifiedBy>Data Understanding Task</cp:lastModifiedBy>
  <cp:revision>1</cp:revision>
  <dcterms:created xsi:type="dcterms:W3CDTF">2026-07-10T02:32:49Z</dcterms:created>
  <dcterms:modified xsi:type="dcterms:W3CDTF">2026-07-10T02:32:49Z</dcterms:modified>
</cp:coreProperties>
</file>